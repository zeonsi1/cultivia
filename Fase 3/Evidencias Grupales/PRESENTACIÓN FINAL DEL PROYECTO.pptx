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ormorant Garamond" charset="1" panose="00000500000000000000"/>
      <p:regular r:id="rId22"/>
    </p:embeddedFont>
    <p:embeddedFont>
      <p:font typeface="TAN Angleton Italics" charset="1" panose="00000000000000000000"/>
      <p:regular r:id="rId23"/>
    </p:embeddedFont>
    <p:embeddedFont>
      <p:font typeface="Cormorant Garamond Medium Italics" charset="1" panose="00000600000000000000"/>
      <p:regular r:id="rId24"/>
    </p:embeddedFont>
    <p:embeddedFont>
      <p:font typeface="Cormorant Garamond Medium" charset="1" panose="00000600000000000000"/>
      <p:regular r:id="rId25"/>
    </p:embeddedFont>
    <p:embeddedFont>
      <p:font typeface="IBM Plex Serif Bold" charset="1" panose="02060803050406000203"/>
      <p:regular r:id="rId26"/>
    </p:embeddedFont>
    <p:embeddedFont>
      <p:font typeface="IBM Plex Serif" charset="1" panose="02060503050406000203"/>
      <p:regular r:id="rId27"/>
    </p:embeddedFont>
    <p:embeddedFont>
      <p:font typeface="IBM Plex Sans" charset="1" panose="020B0503050203000203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png" Type="http://schemas.openxmlformats.org/officeDocument/2006/relationships/image"/><Relationship Id="rId6" Target="../media/image8.jpeg" Type="http://schemas.openxmlformats.org/officeDocument/2006/relationships/image"/><Relationship Id="rId7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3.png" Type="http://schemas.openxmlformats.org/officeDocument/2006/relationships/image"/><Relationship Id="rId4" Target="../media/image10.png" Type="http://schemas.openxmlformats.org/officeDocument/2006/relationships/image"/><Relationship Id="rId5" Target="../media/image11.jpe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jpeg" Type="http://schemas.openxmlformats.org/officeDocument/2006/relationships/image"/><Relationship Id="rId4" Target="../media/image18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jpeg" Type="http://schemas.openxmlformats.org/officeDocument/2006/relationships/image"/><Relationship Id="rId4" Target="../media/image3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028700" y="1028700"/>
            <a:ext cx="5842800" cy="8368375"/>
            <a:chOff x="0" y="0"/>
            <a:chExt cx="443357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3357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33570">
                  <a:moveTo>
                    <a:pt x="2217420" y="0"/>
                  </a:moveTo>
                  <a:lnTo>
                    <a:pt x="2217420" y="0"/>
                  </a:lnTo>
                  <a:cubicBezTo>
                    <a:pt x="3441700" y="0"/>
                    <a:pt x="4433570" y="993140"/>
                    <a:pt x="4433570" y="2217420"/>
                  </a:cubicBezTo>
                  <a:lnTo>
                    <a:pt x="4433570" y="6350000"/>
                  </a:lnTo>
                  <a:lnTo>
                    <a:pt x="4433570" y="6350000"/>
                  </a:lnTo>
                  <a:lnTo>
                    <a:pt x="0" y="6350000"/>
                  </a:lnTo>
                  <a:lnTo>
                    <a:pt x="0" y="6350000"/>
                  </a:lnTo>
                  <a:lnTo>
                    <a:pt x="0" y="2217420"/>
                  </a:lnTo>
                  <a:cubicBezTo>
                    <a:pt x="0" y="993140"/>
                    <a:pt x="993140" y="0"/>
                    <a:pt x="221742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364" r="0" b="-2364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63549" y="9248775"/>
            <a:ext cx="18598742" cy="1143184"/>
            <a:chOff x="0" y="0"/>
            <a:chExt cx="4898434" cy="3010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98434" cy="301085"/>
            </a:xfrm>
            <a:custGeom>
              <a:avLst/>
              <a:gdLst/>
              <a:ahLst/>
              <a:cxnLst/>
              <a:rect r="r" b="b" t="t" l="l"/>
              <a:pathLst>
                <a:path h="301085" w="4898434">
                  <a:moveTo>
                    <a:pt x="0" y="0"/>
                  </a:moveTo>
                  <a:lnTo>
                    <a:pt x="4898434" y="0"/>
                  </a:lnTo>
                  <a:lnTo>
                    <a:pt x="4898434" y="301085"/>
                  </a:lnTo>
                  <a:lnTo>
                    <a:pt x="0" y="301085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98434" cy="3391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374612" y="3121255"/>
            <a:ext cx="10199013" cy="3435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0"/>
              </a:lnSpc>
            </a:pPr>
            <a:r>
              <a:rPr lang="en-US" sz="20000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CultivIA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74612" y="6442305"/>
            <a:ext cx="10199013" cy="214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79"/>
              </a:lnSpc>
            </a:pPr>
            <a:r>
              <a:rPr lang="en-US" sz="6199">
                <a:solidFill>
                  <a:srgbClr val="22222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PRESENTACIÓN FINAL CAPSTONE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5237" y="2945880"/>
            <a:ext cx="8358763" cy="7478647"/>
            <a:chOff x="0" y="0"/>
            <a:chExt cx="2201485" cy="19696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01485" cy="1969685"/>
            </a:xfrm>
            <a:custGeom>
              <a:avLst/>
              <a:gdLst/>
              <a:ahLst/>
              <a:cxnLst/>
              <a:rect r="r" b="b" t="t" l="l"/>
              <a:pathLst>
                <a:path h="1969685" w="2201485">
                  <a:moveTo>
                    <a:pt x="0" y="0"/>
                  </a:moveTo>
                  <a:lnTo>
                    <a:pt x="2201485" y="0"/>
                  </a:lnTo>
                  <a:lnTo>
                    <a:pt x="2201485" y="1969685"/>
                  </a:lnTo>
                  <a:lnTo>
                    <a:pt x="0" y="1969685"/>
                  </a:lnTo>
                  <a:close/>
                </a:path>
              </a:pathLst>
            </a:custGeom>
            <a:solidFill>
              <a:srgbClr val="F4F2E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201485" cy="201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0119214" y="1651929"/>
            <a:ext cx="3173140" cy="3173128"/>
            <a:chOff x="0" y="0"/>
            <a:chExt cx="6350025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26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26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3"/>
              <a:stretch>
                <a:fillRect l="0" t="-4545" r="0" b="-4545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4086160" y="1651929"/>
            <a:ext cx="3173140" cy="3173128"/>
            <a:chOff x="0" y="0"/>
            <a:chExt cx="6350025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26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26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4"/>
              <a:stretch>
                <a:fillRect l="0" t="-41998" r="-76629" b="-93509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0119214" y="6085172"/>
            <a:ext cx="3173140" cy="3173128"/>
            <a:chOff x="0" y="0"/>
            <a:chExt cx="6350025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26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26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4086160" y="6085172"/>
            <a:ext cx="3173140" cy="3173128"/>
            <a:chOff x="0" y="0"/>
            <a:chExt cx="6350025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26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26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6"/>
              <a:stretch>
                <a:fillRect l="0" t="-16666" r="0" b="-16666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498354" y="1028700"/>
            <a:ext cx="1246458" cy="124645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22222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468452" y="1028700"/>
            <a:ext cx="1246458" cy="124645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22222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98354" y="5461943"/>
            <a:ext cx="1246458" cy="124645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22222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468452" y="5461943"/>
            <a:ext cx="1246458" cy="1246458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22222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29" id="29"/>
          <p:cNvSpPr/>
          <p:nvPr/>
        </p:nvSpPr>
        <p:spPr>
          <a:xfrm>
            <a:off x="1673114" y="4829819"/>
            <a:ext cx="6492240" cy="0"/>
          </a:xfrm>
          <a:prstGeom prst="line">
            <a:avLst/>
          </a:prstGeom>
          <a:ln cap="flat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1673114" y="6645182"/>
            <a:ext cx="6492240" cy="0"/>
          </a:xfrm>
          <a:prstGeom prst="line">
            <a:avLst/>
          </a:prstGeom>
          <a:ln cap="flat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673114" y="8419449"/>
            <a:ext cx="6492240" cy="0"/>
          </a:xfrm>
          <a:prstGeom prst="line">
            <a:avLst/>
          </a:prstGeom>
          <a:ln cap="flat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9487313" y="1321868"/>
            <a:ext cx="1257500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i="true">
                <a:solidFill>
                  <a:srgbClr val="222222"/>
                </a:solidFill>
                <a:latin typeface="TAN Angleton Italics"/>
                <a:ea typeface="TAN Angleton Italics"/>
                <a:cs typeface="TAN Angleton Italics"/>
                <a:sym typeface="TAN Angleton Italics"/>
              </a:rPr>
              <a:t>01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457410" y="1321868"/>
            <a:ext cx="1257500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i="true">
                <a:solidFill>
                  <a:srgbClr val="222222"/>
                </a:solidFill>
                <a:latin typeface="TAN Angleton Italics"/>
                <a:ea typeface="TAN Angleton Italics"/>
                <a:cs typeface="TAN Angleton Italics"/>
                <a:sym typeface="TAN Angleton Italics"/>
              </a:rPr>
              <a:t>02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487313" y="5755112"/>
            <a:ext cx="1257500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i="true">
                <a:solidFill>
                  <a:srgbClr val="222222"/>
                </a:solidFill>
                <a:latin typeface="TAN Angleton Italics"/>
                <a:ea typeface="TAN Angleton Italics"/>
                <a:cs typeface="TAN Angleton Italics"/>
                <a:sym typeface="TAN Angleton Italics"/>
              </a:rPr>
              <a:t>03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457410" y="5755112"/>
            <a:ext cx="1257500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i="true">
                <a:solidFill>
                  <a:srgbClr val="222222"/>
                </a:solidFill>
                <a:latin typeface="TAN Angleton Italics"/>
                <a:ea typeface="TAN Angleton Italics"/>
                <a:cs typeface="TAN Angleton Italics"/>
                <a:sym typeface="TAN Angleton Italics"/>
              </a:rPr>
              <a:t>04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03832" y="849342"/>
            <a:ext cx="6642347" cy="2103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491"/>
              </a:lnSpc>
            </a:pPr>
            <a:r>
              <a:rPr lang="en-US" b="true" sz="6065" i="true">
                <a:solidFill>
                  <a:srgbClr val="222222"/>
                </a:solidFill>
                <a:latin typeface="Cormorant Garamond Medium Italics"/>
                <a:ea typeface="Cormorant Garamond Medium Italics"/>
                <a:cs typeface="Cormorant Garamond Medium Italics"/>
                <a:sym typeface="Cormorant Garamond Medium Italics"/>
              </a:rPr>
              <a:t>INTEGRANTES DEL PROYECTO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759056" y="3564204"/>
            <a:ext cx="347359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DAMIAN NUÑEZ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73114" y="5518375"/>
            <a:ext cx="347359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SOFIA ALFARO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73114" y="7206916"/>
            <a:ext cx="3387655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VICENTE FARIAS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73114" y="9039664"/>
            <a:ext cx="347359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22222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TOMAS GARRIDO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791333" y="3041426"/>
            <a:ext cx="4155549" cy="1878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7"/>
              </a:lnSpc>
            </a:pPr>
            <a:r>
              <a:rPr lang="en-US" sz="1805" b="true">
                <a:solidFill>
                  <a:srgbClr val="222222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Scrum Master: </a:t>
            </a:r>
            <a:r>
              <a:rPr lang="en-US" sz="1805">
                <a:solidFill>
                  <a:srgbClr val="222222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Facilitar ceremonias ágiles (Planning, Daily, Review, Retro). Remover impedimentos y gestionar riesgos. Coordinar compras de materiales y documentación</a:t>
            </a:r>
          </a:p>
          <a:p>
            <a:pPr algn="just">
              <a:lnSpc>
                <a:spcPts val="2527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4791333" y="4881512"/>
            <a:ext cx="4155549" cy="1878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27"/>
              </a:lnSpc>
              <a:spcBef>
                <a:spcPct val="0"/>
              </a:spcBef>
            </a:pPr>
            <a:r>
              <a:rPr lang="en-US" b="true" sz="1805" strike="noStrike" u="none">
                <a:solidFill>
                  <a:srgbClr val="222222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Product Owner:</a:t>
            </a:r>
            <a:r>
              <a:rPr lang="en-US" sz="1805" strike="noStrike" u="none">
                <a:solidFill>
                  <a:srgbClr val="222222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 Definir visión y priorizar el Product Backlog. Especificar criterios de aceptación. Coordinar validación con usuarios y aceptar incrementos</a:t>
            </a:r>
          </a:p>
          <a:p>
            <a:pPr algn="just" marL="0" indent="0" lvl="0">
              <a:lnSpc>
                <a:spcPts val="2527"/>
              </a:lnSpc>
              <a:spcBef>
                <a:spcPct val="0"/>
              </a:spcBef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4791333" y="6713593"/>
            <a:ext cx="4155549" cy="1878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27"/>
              </a:lnSpc>
              <a:spcBef>
                <a:spcPct val="0"/>
              </a:spcBef>
            </a:pPr>
            <a:r>
              <a:rPr lang="en-US" b="true" sz="1805" strike="noStrike" u="none">
                <a:solidFill>
                  <a:srgbClr val="222222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Developer Team:</a:t>
            </a:r>
            <a:r>
              <a:rPr lang="en-US" sz="1805" strike="noStrike" u="none">
                <a:solidFill>
                  <a:srgbClr val="222222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 </a:t>
            </a:r>
            <a:r>
              <a:rPr lang="en-US" sz="1805" strike="noStrike" u="none">
                <a:solidFill>
                  <a:srgbClr val="222222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Apoyar en integración de sensores y prototipo IoT. Desarrollar módulos de app y usabilidad. Realizar pruebas de seguridad y rendimiento</a:t>
            </a:r>
          </a:p>
          <a:p>
            <a:pPr algn="just" marL="0" indent="0" lvl="0">
              <a:lnSpc>
                <a:spcPts val="2527"/>
              </a:lnSpc>
              <a:spcBef>
                <a:spcPct val="0"/>
              </a:spcBef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4791333" y="8546341"/>
            <a:ext cx="4155549" cy="1878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27"/>
              </a:lnSpc>
              <a:spcBef>
                <a:spcPct val="0"/>
              </a:spcBef>
            </a:pPr>
            <a:r>
              <a:rPr lang="en-US" b="true" sz="1805" strike="noStrike" u="none">
                <a:solidFill>
                  <a:srgbClr val="222222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Developer Team:</a:t>
            </a:r>
            <a:r>
              <a:rPr lang="en-US" sz="1805" strike="noStrike" u="none">
                <a:solidFill>
                  <a:srgbClr val="222222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 Implementar firmware, backend y app. Diseñar base de datos y configurar CI/CD. Ejecutar pruebas unitarias, integración y end-to-end</a:t>
            </a:r>
          </a:p>
          <a:p>
            <a:pPr algn="just" marL="0" indent="0" lvl="0">
              <a:lnSpc>
                <a:spcPts val="2527"/>
              </a:lnSpc>
              <a:spcBef>
                <a:spcPct val="0"/>
              </a:spcBef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  <p:sp>
        <p:nvSpPr>
          <p:cNvPr name="AutoShape 46" id="46"/>
          <p:cNvSpPr/>
          <p:nvPr/>
        </p:nvSpPr>
        <p:spPr>
          <a:xfrm>
            <a:off x="1028700" y="808672"/>
            <a:ext cx="3644958" cy="0"/>
          </a:xfrm>
          <a:prstGeom prst="line">
            <a:avLst/>
          </a:prstGeom>
          <a:ln cap="flat" w="9525">
            <a:solidFill>
              <a:srgbClr val="6572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7" id="47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47" r="0" b="-4218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72059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11438" y="847725"/>
            <a:ext cx="15865124" cy="1625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99"/>
              </a:lnSpc>
            </a:pPr>
            <a:r>
              <a:rPr lang="en-US" b="true" sz="9499" i="true">
                <a:solidFill>
                  <a:srgbClr val="222222"/>
                </a:solidFill>
                <a:latin typeface="Cormorant Garamond Medium Italics"/>
                <a:ea typeface="Cormorant Garamond Medium Italics"/>
                <a:cs typeface="Cormorant Garamond Medium Italics"/>
                <a:sym typeface="Cormorant Garamond Medium Italics"/>
              </a:rPr>
              <a:t>DESCRIPCIÓN DEL PROYECTO</a:t>
            </a:r>
          </a:p>
        </p:txBody>
      </p:sp>
      <p:sp>
        <p:nvSpPr>
          <p:cNvPr name="AutoShape 7" id="7"/>
          <p:cNvSpPr/>
          <p:nvPr/>
        </p:nvSpPr>
        <p:spPr>
          <a:xfrm>
            <a:off x="1028700" y="808672"/>
            <a:ext cx="3644958" cy="0"/>
          </a:xfrm>
          <a:prstGeom prst="line">
            <a:avLst/>
          </a:prstGeom>
          <a:ln cap="flat" w="9525">
            <a:solidFill>
              <a:srgbClr val="6572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2100864"/>
            <a:ext cx="2753533" cy="4110230"/>
          </a:xfrm>
          <a:custGeom>
            <a:avLst/>
            <a:gdLst/>
            <a:ahLst/>
            <a:cxnLst/>
            <a:rect r="r" b="b" t="t" l="l"/>
            <a:pathLst>
              <a:path h="4110230" w="2753533">
                <a:moveTo>
                  <a:pt x="0" y="0"/>
                </a:moveTo>
                <a:lnTo>
                  <a:pt x="2753533" y="0"/>
                </a:lnTo>
                <a:lnTo>
                  <a:pt x="2753533" y="4110230"/>
                </a:lnTo>
                <a:lnTo>
                  <a:pt x="0" y="41102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330929" y="2377523"/>
            <a:ext cx="2552051" cy="3420550"/>
          </a:xfrm>
          <a:custGeom>
            <a:avLst/>
            <a:gdLst/>
            <a:ahLst/>
            <a:cxnLst/>
            <a:rect r="r" b="b" t="t" l="l"/>
            <a:pathLst>
              <a:path h="3420550" w="2552051">
                <a:moveTo>
                  <a:pt x="0" y="0"/>
                </a:moveTo>
                <a:lnTo>
                  <a:pt x="2552051" y="0"/>
                </a:lnTo>
                <a:lnTo>
                  <a:pt x="2552051" y="3420550"/>
                </a:lnTo>
                <a:lnTo>
                  <a:pt x="0" y="34205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15647" y="1329913"/>
            <a:ext cx="4115282" cy="5515771"/>
          </a:xfrm>
          <a:custGeom>
            <a:avLst/>
            <a:gdLst/>
            <a:ahLst/>
            <a:cxnLst/>
            <a:rect r="r" b="b" t="t" l="l"/>
            <a:pathLst>
              <a:path h="5515771" w="4115282">
                <a:moveTo>
                  <a:pt x="0" y="0"/>
                </a:moveTo>
                <a:lnTo>
                  <a:pt x="4115282" y="0"/>
                </a:lnTo>
                <a:lnTo>
                  <a:pt x="4115282" y="5515771"/>
                </a:lnTo>
                <a:lnTo>
                  <a:pt x="0" y="55157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91228" y="2273328"/>
            <a:ext cx="3765301" cy="3765301"/>
          </a:xfrm>
          <a:custGeom>
            <a:avLst/>
            <a:gdLst/>
            <a:ahLst/>
            <a:cxnLst/>
            <a:rect r="r" b="b" t="t" l="l"/>
            <a:pathLst>
              <a:path h="3765301" w="3765301">
                <a:moveTo>
                  <a:pt x="0" y="0"/>
                </a:moveTo>
                <a:lnTo>
                  <a:pt x="3765301" y="0"/>
                </a:lnTo>
                <a:lnTo>
                  <a:pt x="3765301" y="3765301"/>
                </a:lnTo>
                <a:lnTo>
                  <a:pt x="0" y="37653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673658" y="2377523"/>
            <a:ext cx="2504284" cy="3115750"/>
          </a:xfrm>
          <a:custGeom>
            <a:avLst/>
            <a:gdLst/>
            <a:ahLst/>
            <a:cxnLst/>
            <a:rect r="r" b="b" t="t" l="l"/>
            <a:pathLst>
              <a:path h="3115750" w="2504284">
                <a:moveTo>
                  <a:pt x="0" y="0"/>
                </a:moveTo>
                <a:lnTo>
                  <a:pt x="2504284" y="0"/>
                </a:lnTo>
                <a:lnTo>
                  <a:pt x="2504284" y="3115750"/>
                </a:lnTo>
                <a:lnTo>
                  <a:pt x="0" y="31157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170530" y="6535943"/>
            <a:ext cx="5971998" cy="208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222222"/>
                </a:solidFill>
                <a:latin typeface="IBM Plex Sans"/>
                <a:ea typeface="IBM Plex Sans"/>
                <a:cs typeface="IBM Plex Sans"/>
                <a:sym typeface="IBM Plex Sans"/>
              </a:rPr>
              <a:t>Las personas suelen perder plantas por desconocimiento de su especie o de los cuidados adecuados (agua y temperatura). En Chile, las soluciones IoT existentes son escasas o muy costosas.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28639" y="5740923"/>
            <a:ext cx="597199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i="true">
                <a:solidFill>
                  <a:srgbClr val="222222"/>
                </a:solidFill>
                <a:latin typeface="Cormorant Garamond Medium Italics"/>
                <a:ea typeface="Cormorant Garamond Medium Italics"/>
                <a:cs typeface="Cormorant Garamond Medium Italics"/>
                <a:sym typeface="Cormorant Garamond Medium Italics"/>
              </a:rPr>
              <a:t>PROBLEMA O DOLOR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69328" y="6312330"/>
            <a:ext cx="6337626" cy="375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222222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Diseñar e implementar un dispositivo inteligente con sensores y pantalla, conectado a una app móvil que: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222222"/>
                </a:solidFill>
                <a:latin typeface="IBM Plex Sans"/>
                <a:ea typeface="IBM Plex Sans"/>
                <a:cs typeface="IBM Plex Sans"/>
                <a:sym typeface="IBM Plex Sans"/>
              </a:rPr>
              <a:t>Identifica la especie de la planta por foto.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222222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Entrega diagnóstico y plan de cuidados.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222222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Monitorea humedad y temperatura.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222222"/>
                </a:solidFill>
                <a:latin typeface="IBM Plex Sans"/>
                <a:ea typeface="IBM Plex Sans"/>
                <a:cs typeface="IBM Plex Sans"/>
                <a:sym typeface="IBM Plex Sans"/>
              </a:rPr>
              <a:t>Genera alertas y notificaciones en tiempo real.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0269328" y="5740923"/>
            <a:ext cx="597199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i="true">
                <a:solidFill>
                  <a:srgbClr val="222222"/>
                </a:solidFill>
                <a:latin typeface="Cormorant Garamond Medium Italics"/>
                <a:ea typeface="Cormorant Garamond Medium Italics"/>
                <a:cs typeface="Cormorant Garamond Medium Italics"/>
                <a:sym typeface="Cormorant Garamond Medium Italics"/>
              </a:rPr>
              <a:t>PROPUESTA DE SOLUCIÓN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8054613" y="-522685"/>
            <a:ext cx="10722606" cy="8229600"/>
          </a:xfrm>
          <a:custGeom>
            <a:avLst/>
            <a:gdLst/>
            <a:ahLst/>
            <a:cxnLst/>
            <a:rect r="r" b="b" t="t" l="l"/>
            <a:pathLst>
              <a:path h="8229600" w="10722606">
                <a:moveTo>
                  <a:pt x="10722605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0722605" y="0"/>
                </a:lnTo>
                <a:lnTo>
                  <a:pt x="10722605" y="8229600"/>
                </a:lnTo>
                <a:close/>
              </a:path>
            </a:pathLst>
          </a:custGeom>
          <a:blipFill>
            <a:blip r:embed="rId2">
              <a:alphaModFix amt="35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718979" y="1337547"/>
            <a:ext cx="5644418" cy="122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4"/>
              </a:lnSpc>
            </a:pPr>
            <a:r>
              <a:rPr lang="en-US" b="true" sz="7189" i="true">
                <a:solidFill>
                  <a:srgbClr val="222222"/>
                </a:solidFill>
                <a:latin typeface="Cormorant Garamond Medium Italics"/>
                <a:ea typeface="Cormorant Garamond Medium Italics"/>
                <a:cs typeface="Cormorant Garamond Medium Italics"/>
                <a:sym typeface="Cormorant Garamond Medium Italics"/>
              </a:rPr>
              <a:t>Objetivo General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57317" y="1337547"/>
            <a:ext cx="6917196" cy="122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4"/>
              </a:lnSpc>
            </a:pPr>
            <a:r>
              <a:rPr lang="en-US" b="true" sz="7189" i="true">
                <a:solidFill>
                  <a:srgbClr val="222222"/>
                </a:solidFill>
                <a:latin typeface="Cormorant Garamond Medium Italics"/>
                <a:ea typeface="Cormorant Garamond Medium Italics"/>
                <a:cs typeface="Cormorant Garamond Medium Italics"/>
                <a:sym typeface="Cormorant Garamond Medium Italics"/>
              </a:rPr>
              <a:t>Objetivos Específicos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18979" y="3259505"/>
            <a:ext cx="5497898" cy="5218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7"/>
              </a:lnSpc>
            </a:pPr>
            <a:r>
              <a:rPr lang="en-US" sz="268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Desarrollar una aplicación móvil inteligente que permita identificar plantas y diagnosticar enfermedades mediante IA, integrando monitoreo en tiempo real de humedad y temperatura, riego automático, recomendaciones personalizadas para cada usuario y notificaciones de cuidado para un mantenimiento eficiente y sostenible para cada planta.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20981" y="3269030"/>
            <a:ext cx="9113453" cy="417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70089" indent="-285045" lvl="1">
              <a:lnSpc>
                <a:spcPts val="3696"/>
              </a:lnSpc>
              <a:buFont typeface="Arial"/>
              <a:buChar char="•"/>
            </a:pPr>
            <a:r>
              <a:rPr lang="en-US" sz="264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Crear una propuesta para ayudar 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la jardinería responsable mediante herramientas tecnológicas accesibles.</a:t>
            </a:r>
          </a:p>
          <a:p>
            <a:pPr algn="just" marL="570089" indent="-285045" lvl="1">
              <a:lnSpc>
                <a:spcPts val="3696"/>
              </a:lnSpc>
              <a:buFont typeface="Arial"/>
              <a:buChar char="•"/>
            </a:pP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Fomentar la sostenibilidad con datos ambientales y recomendaciones de cultivo personalizadas.</a:t>
            </a:r>
          </a:p>
          <a:p>
            <a:pPr algn="just" marL="570089" indent="-285045" lvl="1">
              <a:lnSpc>
                <a:spcPts val="3696"/>
              </a:lnSpc>
              <a:buFont typeface="Arial"/>
              <a:buChar char="•"/>
            </a:pP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Integrar IA e IoT en un ecosistema digital que fortalezca el vínculo entre las personas y sus plantas.</a:t>
            </a:r>
          </a:p>
          <a:p>
            <a:pPr algn="just">
              <a:lnSpc>
                <a:spcPts val="3696"/>
              </a:lnSpc>
            </a:pPr>
          </a:p>
          <a:p>
            <a:pPr algn="just">
              <a:lnSpc>
                <a:spcPts val="3696"/>
              </a:lnSpc>
            </a:pPr>
          </a:p>
        </p:txBody>
      </p:sp>
      <p:sp>
        <p:nvSpPr>
          <p:cNvPr name="AutoShape 11" id="11"/>
          <p:cNvSpPr/>
          <p:nvPr/>
        </p:nvSpPr>
        <p:spPr>
          <a:xfrm>
            <a:off x="1028700" y="808672"/>
            <a:ext cx="3644958" cy="0"/>
          </a:xfrm>
          <a:prstGeom prst="line">
            <a:avLst/>
          </a:prstGeom>
          <a:ln cap="flat" w="9525">
            <a:solidFill>
              <a:srgbClr val="6572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7565394" y="0"/>
            <a:ext cx="10722606" cy="8229600"/>
          </a:xfrm>
          <a:custGeom>
            <a:avLst/>
            <a:gdLst/>
            <a:ahLst/>
            <a:cxnLst/>
            <a:rect r="r" b="b" t="t" l="l"/>
            <a:pathLst>
              <a:path h="8229600" w="10722606">
                <a:moveTo>
                  <a:pt x="10722606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0722606" y="0"/>
                </a:lnTo>
                <a:lnTo>
                  <a:pt x="10722606" y="8229600"/>
                </a:lnTo>
                <a:close/>
              </a:path>
            </a:pathLst>
          </a:custGeom>
          <a:blipFill>
            <a:blip r:embed="rId2">
              <a:alphaModFix amt="35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720341" y="1337547"/>
            <a:ext cx="2849102" cy="122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4"/>
              </a:lnSpc>
            </a:pPr>
            <a:r>
              <a:rPr lang="en-US" b="true" sz="7189" i="true">
                <a:solidFill>
                  <a:srgbClr val="222222"/>
                </a:solidFill>
                <a:latin typeface="Cormorant Garamond Medium Italics"/>
                <a:ea typeface="Cormorant Garamond Medium Italics"/>
                <a:cs typeface="Cormorant Garamond Medium Italics"/>
                <a:sym typeface="Cormorant Garamond Medium Italics"/>
              </a:rPr>
              <a:t>Alcance: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70312" y="1337547"/>
            <a:ext cx="4369974" cy="122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4"/>
              </a:lnSpc>
            </a:pPr>
            <a:r>
              <a:rPr lang="en-US" b="true" sz="7189" i="true">
                <a:solidFill>
                  <a:srgbClr val="222222"/>
                </a:solidFill>
                <a:latin typeface="Cormorant Garamond Medium Italics"/>
                <a:ea typeface="Cormorant Garamond Medium Italics"/>
                <a:cs typeface="Cormorant Garamond Medium Italics"/>
                <a:sym typeface="Cormorant Garamond Medium Italics"/>
              </a:rPr>
              <a:t>Limitaciones: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98056" y="2773364"/>
            <a:ext cx="6493673" cy="679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Desarrollo de un dispositivo IoT y su aplicación móvil.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Monitoreo de humedad y temperatura en tiempo real.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Implementación de riego automático.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Notificaciones y alertas de cuidado basadas en los sensores y ubicación.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651297" y="2773364"/>
            <a:ext cx="7608003" cy="494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Dependencia de hardware de bajo costo (precisión de sensores moderada y el riego automático es solo para maceteros grandes).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Proyecto limitado al semestre académico.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Aplicación móvil no adaptada para IPhone.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028700" y="808672"/>
            <a:ext cx="3644958" cy="0"/>
          </a:xfrm>
          <a:prstGeom prst="line">
            <a:avLst/>
          </a:prstGeom>
          <a:ln cap="flat" w="9525">
            <a:solidFill>
              <a:srgbClr val="6572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1968" y="0"/>
            <a:ext cx="7743380" cy="10287000"/>
            <a:chOff x="0" y="0"/>
            <a:chExt cx="10324507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11295" t="43251" r="31749" b="0"/>
            <a:stretch>
              <a:fillRect/>
            </a:stretch>
          </p:blipFill>
          <p:spPr>
            <a:xfrm flipH="false" flipV="false">
              <a:off x="0" y="0"/>
              <a:ext cx="6883005" cy="9144000"/>
            </a:xfrm>
            <a:prstGeom prst="rect">
              <a:avLst/>
            </a:prstGeom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23138" t="25624" r="0" b="6344"/>
            <a:stretch>
              <a:fillRect/>
            </a:stretch>
          </p:blipFill>
          <p:spPr>
            <a:xfrm flipH="false" flipV="false">
              <a:off x="6883005" y="0"/>
              <a:ext cx="3441502" cy="4572000"/>
            </a:xfrm>
            <a:prstGeom prst="rect">
              <a:avLst/>
            </a:prstGeom>
          </p:spPr>
        </p:pic>
        <p:sp>
          <p:nvSpPr>
            <p:cNvPr name="AutoShape 5" id="5"/>
            <p:cNvSpPr/>
            <p:nvPr/>
          </p:nvSpPr>
          <p:spPr>
            <a:xfrm>
              <a:off x="0" y="9144000"/>
              <a:ext cx="6883005" cy="4572000"/>
            </a:xfrm>
            <a:prstGeom prst="rect">
              <a:avLst/>
            </a:prstGeom>
            <a:solidFill>
              <a:srgbClr val="E6E2D6"/>
            </a:solidFill>
          </p:spPr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4"/>
            <a:srcRect l="8356" t="0" r="35153" b="0"/>
            <a:stretch>
              <a:fillRect/>
            </a:stretch>
          </p:blipFill>
          <p:spPr>
            <a:xfrm flipH="false" flipV="false">
              <a:off x="6883005" y="4572000"/>
              <a:ext cx="3441502" cy="9144000"/>
            </a:xfrm>
            <a:prstGeom prst="rect">
              <a:avLst/>
            </a:prstGeom>
          </p:spPr>
        </p:pic>
      </p:grpSp>
      <p:grpSp>
        <p:nvGrpSpPr>
          <p:cNvPr name="Group 7" id="7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59160" y="1216368"/>
            <a:ext cx="8714441" cy="1366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99"/>
              </a:lnSpc>
            </a:pPr>
            <a:r>
              <a:rPr lang="en-US" b="true" sz="8070" i="true">
                <a:solidFill>
                  <a:srgbClr val="222222"/>
                </a:solidFill>
                <a:latin typeface="Cormorant Garamond Medium Italics"/>
                <a:ea typeface="Cormorant Garamond Medium Italics"/>
                <a:cs typeface="Cormorant Garamond Medium Italics"/>
                <a:sym typeface="Cormorant Garamond Medium Italics"/>
              </a:rPr>
              <a:t>Metodología de trabajo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59160" y="2953228"/>
            <a:ext cx="8139971" cy="6942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60"/>
              </a:lnSpc>
            </a:pPr>
            <a:r>
              <a:rPr lang="en-US" sz="3043">
                <a:solidFill>
                  <a:srgbClr val="222222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desarrollo se llevó a cabo bajo el marco de trabajo Scrum, con sprints quincenales</a:t>
            </a:r>
            <a:r>
              <a:rPr lang="en-US" sz="3043">
                <a:solidFill>
                  <a:srgbClr val="222222"/>
                </a:solidFill>
                <a:latin typeface="IBM Plex Sans"/>
                <a:ea typeface="IBM Plex Sans"/>
                <a:cs typeface="IBM Plex Sans"/>
                <a:sym typeface="IBM Plex Sans"/>
              </a:rPr>
              <a:t> planificados y gestionados mediante Jira, se realizaron 22 historias de usuario, separadas en 4 épicas.</a:t>
            </a:r>
          </a:p>
          <a:p>
            <a:pPr algn="just">
              <a:lnSpc>
                <a:spcPts val="4260"/>
              </a:lnSpc>
            </a:pPr>
          </a:p>
          <a:p>
            <a:pPr algn="just">
              <a:lnSpc>
                <a:spcPts val="4260"/>
              </a:lnSpc>
            </a:pPr>
            <a:r>
              <a:rPr lang="en-US" sz="3043">
                <a:solidFill>
                  <a:srgbClr val="222222"/>
                </a:solidFill>
                <a:latin typeface="IBM Plex Sans"/>
                <a:ea typeface="IBM Plex Sans"/>
                <a:cs typeface="IBM Plex Sans"/>
                <a:sym typeface="IBM Plex Sans"/>
              </a:rPr>
              <a:t>Este enfoque ágil permitió la entrega continua de incrementos funcionales, priorizando sistemáticamente los requerimientos de mayor valor y complejidad técnica, lo que facilitó una evolución controlada y medible del proyecto.</a:t>
            </a:r>
          </a:p>
          <a:p>
            <a:pPr algn="just">
              <a:lnSpc>
                <a:spcPts val="426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028700" y="808672"/>
            <a:ext cx="3644958" cy="0"/>
          </a:xfrm>
          <a:prstGeom prst="line">
            <a:avLst/>
          </a:prstGeom>
          <a:ln cap="flat" w="9525">
            <a:solidFill>
              <a:srgbClr val="6572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028700" y="808672"/>
            <a:ext cx="3644958" cy="0"/>
          </a:xfrm>
          <a:prstGeom prst="line">
            <a:avLst/>
          </a:prstGeom>
          <a:ln cap="flat" w="9525">
            <a:solidFill>
              <a:srgbClr val="6572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395734" y="1359243"/>
            <a:ext cx="12946469" cy="8837351"/>
          </a:xfrm>
          <a:custGeom>
            <a:avLst/>
            <a:gdLst/>
            <a:ahLst/>
            <a:cxnLst/>
            <a:rect r="r" b="b" t="t" l="l"/>
            <a:pathLst>
              <a:path h="8837351" w="12946469">
                <a:moveTo>
                  <a:pt x="0" y="0"/>
                </a:moveTo>
                <a:lnTo>
                  <a:pt x="12946469" y="0"/>
                </a:lnTo>
                <a:lnTo>
                  <a:pt x="12946469" y="8837351"/>
                </a:lnTo>
                <a:lnTo>
                  <a:pt x="0" y="88373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438" t="-5669" r="-16673" b="-566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59010" y="722947"/>
            <a:ext cx="15569981" cy="68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b="true" sz="4000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ARQUITECTURA DEL SOFTWARE</a:t>
            </a:r>
          </a:p>
        </p:txBody>
      </p:sp>
      <p:sp>
        <p:nvSpPr>
          <p:cNvPr name="AutoShape 7" id="7"/>
          <p:cNvSpPr/>
          <p:nvPr/>
        </p:nvSpPr>
        <p:spPr>
          <a:xfrm>
            <a:off x="1028700" y="808672"/>
            <a:ext cx="3644958" cy="0"/>
          </a:xfrm>
          <a:prstGeom prst="line">
            <a:avLst/>
          </a:prstGeom>
          <a:ln cap="flat" w="9525">
            <a:solidFill>
              <a:srgbClr val="6572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668535" y="1411920"/>
            <a:ext cx="6844906" cy="8875080"/>
          </a:xfrm>
          <a:custGeom>
            <a:avLst/>
            <a:gdLst/>
            <a:ahLst/>
            <a:cxnLst/>
            <a:rect r="r" b="b" t="t" l="l"/>
            <a:pathLst>
              <a:path h="8875080" w="6844906">
                <a:moveTo>
                  <a:pt x="0" y="0"/>
                </a:moveTo>
                <a:lnTo>
                  <a:pt x="6844906" y="0"/>
                </a:lnTo>
                <a:lnTo>
                  <a:pt x="6844906" y="8875080"/>
                </a:lnTo>
                <a:lnTo>
                  <a:pt x="0" y="8875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210664" y="57413"/>
            <a:ext cx="7487485" cy="1075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8"/>
              </a:lnSpc>
            </a:pPr>
            <a:r>
              <a:rPr lang="en-US" b="true" sz="6241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MODELO DE DATOS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534455" y="1128384"/>
            <a:ext cx="9219089" cy="9296143"/>
          </a:xfrm>
          <a:custGeom>
            <a:avLst/>
            <a:gdLst/>
            <a:ahLst/>
            <a:cxnLst/>
            <a:rect r="r" b="b" t="t" l="l"/>
            <a:pathLst>
              <a:path h="9296143" w="9219089">
                <a:moveTo>
                  <a:pt x="0" y="0"/>
                </a:moveTo>
                <a:lnTo>
                  <a:pt x="9219090" y="0"/>
                </a:lnTo>
                <a:lnTo>
                  <a:pt x="9219090" y="9296143"/>
                </a:lnTo>
                <a:lnTo>
                  <a:pt x="0" y="92961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84" r="0" b="-158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343385" y="3352666"/>
            <a:ext cx="2012173" cy="1790834"/>
          </a:xfrm>
          <a:custGeom>
            <a:avLst/>
            <a:gdLst/>
            <a:ahLst/>
            <a:cxnLst/>
            <a:rect r="r" b="b" t="t" l="l"/>
            <a:pathLst>
              <a:path h="1790834" w="2012173">
                <a:moveTo>
                  <a:pt x="0" y="0"/>
                </a:moveTo>
                <a:lnTo>
                  <a:pt x="2012173" y="0"/>
                </a:lnTo>
                <a:lnTo>
                  <a:pt x="2012173" y="1790834"/>
                </a:lnTo>
                <a:lnTo>
                  <a:pt x="0" y="1790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246637" y="5702727"/>
            <a:ext cx="2589103" cy="2288119"/>
          </a:xfrm>
          <a:custGeom>
            <a:avLst/>
            <a:gdLst/>
            <a:ahLst/>
            <a:cxnLst/>
            <a:rect r="r" b="b" t="t" l="l"/>
            <a:pathLst>
              <a:path h="2288119" w="2589103">
                <a:moveTo>
                  <a:pt x="0" y="0"/>
                </a:moveTo>
                <a:lnTo>
                  <a:pt x="2589103" y="0"/>
                </a:lnTo>
                <a:lnTo>
                  <a:pt x="2589103" y="2288119"/>
                </a:lnTo>
                <a:lnTo>
                  <a:pt x="0" y="22881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51039" y="6107595"/>
            <a:ext cx="1746374" cy="1800386"/>
          </a:xfrm>
          <a:custGeom>
            <a:avLst/>
            <a:gdLst/>
            <a:ahLst/>
            <a:cxnLst/>
            <a:rect r="r" b="b" t="t" l="l"/>
            <a:pathLst>
              <a:path h="1800386" w="1746374">
                <a:moveTo>
                  <a:pt x="0" y="0"/>
                </a:moveTo>
                <a:lnTo>
                  <a:pt x="1746374" y="0"/>
                </a:lnTo>
                <a:lnTo>
                  <a:pt x="1746374" y="1800385"/>
                </a:lnTo>
                <a:lnTo>
                  <a:pt x="0" y="18003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518823" y="6344877"/>
            <a:ext cx="3583300" cy="1325821"/>
          </a:xfrm>
          <a:custGeom>
            <a:avLst/>
            <a:gdLst/>
            <a:ahLst/>
            <a:cxnLst/>
            <a:rect r="r" b="b" t="t" l="l"/>
            <a:pathLst>
              <a:path h="1325821" w="3583300">
                <a:moveTo>
                  <a:pt x="0" y="0"/>
                </a:moveTo>
                <a:lnTo>
                  <a:pt x="3583300" y="0"/>
                </a:lnTo>
                <a:lnTo>
                  <a:pt x="3583300" y="1325821"/>
                </a:lnTo>
                <a:lnTo>
                  <a:pt x="0" y="13258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028049" y="8039372"/>
            <a:ext cx="3417590" cy="1550731"/>
          </a:xfrm>
          <a:custGeom>
            <a:avLst/>
            <a:gdLst/>
            <a:ahLst/>
            <a:cxnLst/>
            <a:rect r="r" b="b" t="t" l="l"/>
            <a:pathLst>
              <a:path h="1550731" w="3417590">
                <a:moveTo>
                  <a:pt x="0" y="0"/>
                </a:moveTo>
                <a:lnTo>
                  <a:pt x="3417590" y="0"/>
                </a:lnTo>
                <a:lnTo>
                  <a:pt x="3417590" y="1550731"/>
                </a:lnTo>
                <a:lnTo>
                  <a:pt x="0" y="15507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606836" y="8124196"/>
            <a:ext cx="4742635" cy="1304225"/>
          </a:xfrm>
          <a:custGeom>
            <a:avLst/>
            <a:gdLst/>
            <a:ahLst/>
            <a:cxnLst/>
            <a:rect r="r" b="b" t="t" l="l"/>
            <a:pathLst>
              <a:path h="1304225" w="4742635">
                <a:moveTo>
                  <a:pt x="0" y="0"/>
                </a:moveTo>
                <a:lnTo>
                  <a:pt x="4742635" y="0"/>
                </a:lnTo>
                <a:lnTo>
                  <a:pt x="4742635" y="1304225"/>
                </a:lnTo>
                <a:lnTo>
                  <a:pt x="0" y="13042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497959" y="5930301"/>
            <a:ext cx="1832970" cy="1832970"/>
          </a:xfrm>
          <a:custGeom>
            <a:avLst/>
            <a:gdLst/>
            <a:ahLst/>
            <a:cxnLst/>
            <a:rect r="r" b="b" t="t" l="l"/>
            <a:pathLst>
              <a:path h="1832970" w="1832970">
                <a:moveTo>
                  <a:pt x="0" y="0"/>
                </a:moveTo>
                <a:lnTo>
                  <a:pt x="1832970" y="0"/>
                </a:lnTo>
                <a:lnTo>
                  <a:pt x="1832970" y="1832970"/>
                </a:lnTo>
                <a:lnTo>
                  <a:pt x="0" y="18329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725168" y="1244943"/>
            <a:ext cx="10605760" cy="99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2"/>
              </a:lnSpc>
            </a:pPr>
            <a:r>
              <a:rPr lang="en-US" b="true" sz="5801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TECNOLOGÍAS UTILIZADAS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21213" y="2456473"/>
            <a:ext cx="1656517" cy="613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  <a:spcBef>
                <a:spcPct val="0"/>
              </a:spcBef>
            </a:pPr>
            <a:r>
              <a:rPr lang="en-US" sz="3591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Frontend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97413" y="5362575"/>
            <a:ext cx="1504117" cy="613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  <a:spcBef>
                <a:spcPct val="0"/>
              </a:spcBef>
            </a:pPr>
            <a:r>
              <a:rPr lang="en-US" sz="3591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Backend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48835" y="3860550"/>
            <a:ext cx="3168989" cy="3168989"/>
          </a:xfrm>
          <a:custGeom>
            <a:avLst/>
            <a:gdLst/>
            <a:ahLst/>
            <a:cxnLst/>
            <a:rect r="r" b="b" t="t" l="l"/>
            <a:pathLst>
              <a:path h="3168989" w="3168989">
                <a:moveTo>
                  <a:pt x="0" y="0"/>
                </a:moveTo>
                <a:lnTo>
                  <a:pt x="3168989" y="0"/>
                </a:lnTo>
                <a:lnTo>
                  <a:pt x="3168989" y="3168989"/>
                </a:lnTo>
                <a:lnTo>
                  <a:pt x="0" y="31689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34678" y="6407069"/>
            <a:ext cx="3054769" cy="1614272"/>
          </a:xfrm>
          <a:custGeom>
            <a:avLst/>
            <a:gdLst/>
            <a:ahLst/>
            <a:cxnLst/>
            <a:rect r="r" b="b" t="t" l="l"/>
            <a:pathLst>
              <a:path h="1614272" w="3054769">
                <a:moveTo>
                  <a:pt x="0" y="0"/>
                </a:moveTo>
                <a:lnTo>
                  <a:pt x="3054769" y="0"/>
                </a:lnTo>
                <a:lnTo>
                  <a:pt x="3054769" y="1614272"/>
                </a:lnTo>
                <a:lnTo>
                  <a:pt x="0" y="16142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281794" y="2765419"/>
            <a:ext cx="4021951" cy="2679625"/>
          </a:xfrm>
          <a:custGeom>
            <a:avLst/>
            <a:gdLst/>
            <a:ahLst/>
            <a:cxnLst/>
            <a:rect r="r" b="b" t="t" l="l"/>
            <a:pathLst>
              <a:path h="2679625" w="4021951">
                <a:moveTo>
                  <a:pt x="0" y="0"/>
                </a:moveTo>
                <a:lnTo>
                  <a:pt x="4021952" y="0"/>
                </a:lnTo>
                <a:lnTo>
                  <a:pt x="4021952" y="2679625"/>
                </a:lnTo>
                <a:lnTo>
                  <a:pt x="0" y="2679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013099" y="6953709"/>
            <a:ext cx="3755061" cy="1933856"/>
          </a:xfrm>
          <a:custGeom>
            <a:avLst/>
            <a:gdLst/>
            <a:ahLst/>
            <a:cxnLst/>
            <a:rect r="r" b="b" t="t" l="l"/>
            <a:pathLst>
              <a:path h="1933856" w="3755061">
                <a:moveTo>
                  <a:pt x="0" y="0"/>
                </a:moveTo>
                <a:lnTo>
                  <a:pt x="3755061" y="0"/>
                </a:lnTo>
                <a:lnTo>
                  <a:pt x="3755061" y="1933856"/>
                </a:lnTo>
                <a:lnTo>
                  <a:pt x="0" y="19338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867716" y="3198154"/>
            <a:ext cx="3994472" cy="2246890"/>
          </a:xfrm>
          <a:custGeom>
            <a:avLst/>
            <a:gdLst/>
            <a:ahLst/>
            <a:cxnLst/>
            <a:rect r="r" b="b" t="t" l="l"/>
            <a:pathLst>
              <a:path h="2246890" w="3994472">
                <a:moveTo>
                  <a:pt x="0" y="0"/>
                </a:moveTo>
                <a:lnTo>
                  <a:pt x="3994472" y="0"/>
                </a:lnTo>
                <a:lnTo>
                  <a:pt x="3994472" y="2246890"/>
                </a:lnTo>
                <a:lnTo>
                  <a:pt x="0" y="22468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797896" y="1498312"/>
            <a:ext cx="11533033" cy="73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2"/>
              </a:lnSpc>
            </a:pPr>
            <a:r>
              <a:rPr lang="en-US" b="true" sz="4301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OTRAS/INFRAESTRUCTURA/METODOLOGIA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057724" y="3913332"/>
            <a:ext cx="12172552" cy="2334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81"/>
              </a:lnSpc>
            </a:pPr>
            <a:r>
              <a:rPr lang="en-US" b="true" sz="6701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DEMOSTRACIÓN DEL RESULTADO DEL PROYECTO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12376" y="1458885"/>
            <a:ext cx="11063248" cy="251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2"/>
              </a:lnSpc>
            </a:pPr>
            <a:r>
              <a:rPr lang="en-US" sz="7201" b="true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RESULTADOS OBTENIDOS</a:t>
            </a:r>
          </a:p>
          <a:p>
            <a:pPr algn="l">
              <a:lnSpc>
                <a:spcPts val="10082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081239" y="895350"/>
            <a:ext cx="14178061" cy="37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2"/>
              </a:lnSpc>
            </a:pPr>
            <a:r>
              <a:rPr lang="en-US" sz="7201" b="true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OBSTÁCULOS PRESENTADOS DURANTE EL DESARROLLO</a:t>
            </a:r>
          </a:p>
          <a:p>
            <a:pPr algn="l">
              <a:lnSpc>
                <a:spcPts val="10082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840407" y="0"/>
            <a:ext cx="3447593" cy="1109164"/>
          </a:xfrm>
          <a:custGeom>
            <a:avLst/>
            <a:gdLst/>
            <a:ahLst/>
            <a:cxnLst/>
            <a:rect r="r" b="b" t="t" l="l"/>
            <a:pathLst>
              <a:path h="1109164" w="3447593">
                <a:moveTo>
                  <a:pt x="0" y="0"/>
                </a:moveTo>
                <a:lnTo>
                  <a:pt x="3447593" y="0"/>
                </a:lnTo>
                <a:lnTo>
                  <a:pt x="3447593" y="1109164"/>
                </a:lnTo>
                <a:lnTo>
                  <a:pt x="0" y="11091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72510" y="4384840"/>
            <a:ext cx="13121464" cy="1579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8920" indent="-329460" lvl="1">
              <a:lnSpc>
                <a:spcPts val="4272"/>
              </a:lnSpc>
              <a:buFont typeface="Arial"/>
              <a:buChar char="•"/>
            </a:pPr>
            <a:r>
              <a:rPr lang="en-US" sz="305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Tiempo limitado</a:t>
            </a:r>
          </a:p>
          <a:p>
            <a:pPr algn="l" marL="658920" indent="-329460" lvl="1">
              <a:lnSpc>
                <a:spcPts val="4272"/>
              </a:lnSpc>
              <a:buFont typeface="Arial"/>
              <a:buChar char="•"/>
            </a:pPr>
            <a:r>
              <a:rPr lang="en-US" sz="305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Recursos económicos restringidos</a:t>
            </a:r>
          </a:p>
          <a:p>
            <a:pPr algn="l" marL="658920" indent="-329460" lvl="1">
              <a:lnSpc>
                <a:spcPts val="4272"/>
              </a:lnSpc>
              <a:spcBef>
                <a:spcPct val="0"/>
              </a:spcBef>
              <a:buFont typeface="Arial"/>
              <a:buChar char="•"/>
            </a:pPr>
            <a:r>
              <a:rPr lang="en-US" sz="305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Conocimiento básico de IoT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028700" y="808672"/>
            <a:ext cx="3644958" cy="0"/>
          </a:xfrm>
          <a:prstGeom prst="line">
            <a:avLst/>
          </a:prstGeom>
          <a:ln cap="flat" w="9525">
            <a:solidFill>
              <a:srgbClr val="6572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913130" y="3762375"/>
            <a:ext cx="8461739" cy="261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PREGUNTAS DE LA COMISION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79" t="0" r="-447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93681" y="0"/>
            <a:ext cx="5438569" cy="10287000"/>
            <a:chOff x="0" y="0"/>
            <a:chExt cx="7251426" cy="13716000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3"/>
            <a:srcRect l="10348" t="0" r="10348" b="0"/>
            <a:stretch>
              <a:fillRect/>
            </a:stretch>
          </p:blipFill>
          <p:spPr>
            <a:xfrm flipH="false" flipV="false">
              <a:off x="0" y="0"/>
              <a:ext cx="7251426" cy="13716000"/>
            </a:xfrm>
            <a:prstGeom prst="rect">
              <a:avLst/>
            </a:prstGeom>
          </p:spPr>
        </p:pic>
      </p:grpSp>
      <p:grpSp>
        <p:nvGrpSpPr>
          <p:cNvPr name="Group 8" id="8"/>
          <p:cNvGrpSpPr/>
          <p:nvPr/>
        </p:nvGrpSpPr>
        <p:grpSpPr>
          <a:xfrm rot="0">
            <a:off x="8417886" y="1952117"/>
            <a:ext cx="8358763" cy="5931487"/>
            <a:chOff x="0" y="0"/>
            <a:chExt cx="2201485" cy="15622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01485" cy="1562202"/>
            </a:xfrm>
            <a:custGeom>
              <a:avLst/>
              <a:gdLst/>
              <a:ahLst/>
              <a:cxnLst/>
              <a:rect r="r" b="b" t="t" l="l"/>
              <a:pathLst>
                <a:path h="1562202" w="2201485">
                  <a:moveTo>
                    <a:pt x="0" y="0"/>
                  </a:moveTo>
                  <a:lnTo>
                    <a:pt x="2201485" y="0"/>
                  </a:lnTo>
                  <a:lnTo>
                    <a:pt x="2201485" y="1562202"/>
                  </a:lnTo>
                  <a:lnTo>
                    <a:pt x="0" y="1562202"/>
                  </a:lnTo>
                  <a:close/>
                </a:path>
              </a:pathLst>
            </a:custGeom>
            <a:solidFill>
              <a:srgbClr val="E6E2D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01485" cy="1609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91240" y="3580347"/>
            <a:ext cx="4549167" cy="395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>
                <a:solidFill>
                  <a:srgbClr val="22222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¡MUCHAS GRACIAS!</a:t>
            </a:r>
          </a:p>
          <a:p>
            <a:pPr algn="l">
              <a:lnSpc>
                <a:spcPts val="10500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840407" y="0"/>
            <a:ext cx="3447593" cy="1109164"/>
          </a:xfrm>
          <a:custGeom>
            <a:avLst/>
            <a:gdLst/>
            <a:ahLst/>
            <a:cxnLst/>
            <a:rect r="r" b="b" t="t" l="l"/>
            <a:pathLst>
              <a:path h="1109164" w="3447593">
                <a:moveTo>
                  <a:pt x="0" y="0"/>
                </a:moveTo>
                <a:lnTo>
                  <a:pt x="3447593" y="0"/>
                </a:lnTo>
                <a:lnTo>
                  <a:pt x="3447593" y="1109164"/>
                </a:lnTo>
                <a:lnTo>
                  <a:pt x="0" y="11091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197798" y="214527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DAGxga7H0co</dc:identifier>
  <dcterms:modified xsi:type="dcterms:W3CDTF">2011-08-01T06:04:30Z</dcterms:modified>
  <cp:revision>1</cp:revision>
  <dc:title>Presentacion Proyecto</dc:title>
</cp:coreProperties>
</file>