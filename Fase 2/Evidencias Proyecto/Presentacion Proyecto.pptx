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Cormorant Garamond" charset="1" panose="00000500000000000000"/>
      <p:regular r:id="rId20"/>
    </p:embeddedFont>
    <p:embeddedFont>
      <p:font typeface="TAN Angleton Italics" charset="1" panose="00000000000000000000"/>
      <p:regular r:id="rId21"/>
    </p:embeddedFont>
    <p:embeddedFont>
      <p:font typeface="Cormorant Garamond Medium Italics" charset="1" panose="00000600000000000000"/>
      <p:regular r:id="rId22"/>
    </p:embeddedFont>
    <p:embeddedFont>
      <p:font typeface="Cormorant Garamond Medium" charset="1" panose="00000600000000000000"/>
      <p:regular r:id="rId23"/>
    </p:embeddedFont>
    <p:embeddedFont>
      <p:font typeface="IBM Plex Serif Bold" charset="1" panose="02060803050406000203"/>
      <p:regular r:id="rId24"/>
    </p:embeddedFont>
    <p:embeddedFont>
      <p:font typeface="IBM Plex Serif" charset="1" panose="02060503050406000203"/>
      <p:regular r:id="rId25"/>
    </p:embeddedFont>
    <p:embeddedFont>
      <p:font typeface="IBM Plex Sans Italics" charset="1" panose="020B0503050203000203"/>
      <p:regular r:id="rId26"/>
    </p:embeddedFont>
    <p:embeddedFont>
      <p:font typeface="IBM Plex Sans" charset="1" panose="020B0503050203000203"/>
      <p:regular r:id="rId27"/>
    </p:embeddedFont>
    <p:embeddedFont>
      <p:font typeface="Dream Avenue" charset="1" panose="02000503000000020004"/>
      <p:regular r:id="rId28"/>
    </p:embeddedFont>
    <p:embeddedFont>
      <p:font typeface="IBM Plex Serif Italics" charset="1" panose="02060503050406000203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png" Type="http://schemas.openxmlformats.org/officeDocument/2006/relationships/image"/><Relationship Id="rId6" Target="../media/image8.jpeg" Type="http://schemas.openxmlformats.org/officeDocument/2006/relationships/image"/><Relationship Id="rId7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jpeg" Type="http://schemas.openxmlformats.org/officeDocument/2006/relationships/image"/><Relationship Id="rId4" Target="../media/image11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4.jpeg" Type="http://schemas.openxmlformats.org/officeDocument/2006/relationships/image"/><Relationship Id="rId4" Target="../media/image15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9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028700" y="1028700"/>
            <a:ext cx="5842800" cy="8368375"/>
            <a:chOff x="0" y="0"/>
            <a:chExt cx="443357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3357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33570">
                  <a:moveTo>
                    <a:pt x="2217420" y="0"/>
                  </a:moveTo>
                  <a:lnTo>
                    <a:pt x="2217420" y="0"/>
                  </a:lnTo>
                  <a:cubicBezTo>
                    <a:pt x="3441700" y="0"/>
                    <a:pt x="4433570" y="993140"/>
                    <a:pt x="4433570" y="2217420"/>
                  </a:cubicBezTo>
                  <a:lnTo>
                    <a:pt x="4433570" y="6350000"/>
                  </a:lnTo>
                  <a:lnTo>
                    <a:pt x="4433570" y="6350000"/>
                  </a:lnTo>
                  <a:lnTo>
                    <a:pt x="0" y="6350000"/>
                  </a:lnTo>
                  <a:lnTo>
                    <a:pt x="0" y="6350000"/>
                  </a:lnTo>
                  <a:lnTo>
                    <a:pt x="0" y="2217420"/>
                  </a:lnTo>
                  <a:cubicBezTo>
                    <a:pt x="0" y="993140"/>
                    <a:pt x="993140" y="0"/>
                    <a:pt x="221742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2364" r="0" b="-2364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63549" y="9248775"/>
            <a:ext cx="18598742" cy="1143184"/>
            <a:chOff x="0" y="0"/>
            <a:chExt cx="4898434" cy="3010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98434" cy="301085"/>
            </a:xfrm>
            <a:custGeom>
              <a:avLst/>
              <a:gdLst/>
              <a:ahLst/>
              <a:cxnLst/>
              <a:rect r="r" b="b" t="t" l="l"/>
              <a:pathLst>
                <a:path h="301085" w="4898434">
                  <a:moveTo>
                    <a:pt x="0" y="0"/>
                  </a:moveTo>
                  <a:lnTo>
                    <a:pt x="4898434" y="0"/>
                  </a:lnTo>
                  <a:lnTo>
                    <a:pt x="4898434" y="301085"/>
                  </a:lnTo>
                  <a:lnTo>
                    <a:pt x="0" y="301085"/>
                  </a:lnTo>
                  <a:close/>
                </a:path>
              </a:pathLst>
            </a:custGeom>
            <a:solidFill>
              <a:srgbClr val="65724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898434" cy="3391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354808" y="0"/>
            <a:ext cx="5952242" cy="1359243"/>
          </a:xfrm>
          <a:custGeom>
            <a:avLst/>
            <a:gdLst/>
            <a:ahLst/>
            <a:cxnLst/>
            <a:rect r="r" b="b" t="t" l="l"/>
            <a:pathLst>
              <a:path h="1359243" w="5952242">
                <a:moveTo>
                  <a:pt x="0" y="0"/>
                </a:moveTo>
                <a:lnTo>
                  <a:pt x="5952242" y="0"/>
                </a:lnTo>
                <a:lnTo>
                  <a:pt x="5952242" y="1359243"/>
                </a:lnTo>
                <a:lnTo>
                  <a:pt x="0" y="13592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374612" y="3121255"/>
            <a:ext cx="10199013" cy="3435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0"/>
              </a:lnSpc>
            </a:pPr>
            <a:r>
              <a:rPr lang="en-US" sz="20000">
                <a:solidFill>
                  <a:srgbClr val="65724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CultivIA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74612" y="6442305"/>
            <a:ext cx="10199013" cy="2147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79"/>
              </a:lnSpc>
            </a:pPr>
            <a:r>
              <a:rPr lang="en-US" sz="6199">
                <a:solidFill>
                  <a:srgbClr val="222222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PRESENTACIÓN FINAL CAPSTONE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85237" y="2945880"/>
            <a:ext cx="8358763" cy="7478647"/>
            <a:chOff x="0" y="0"/>
            <a:chExt cx="2201485" cy="19696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01485" cy="1969685"/>
            </a:xfrm>
            <a:custGeom>
              <a:avLst/>
              <a:gdLst/>
              <a:ahLst/>
              <a:cxnLst/>
              <a:rect r="r" b="b" t="t" l="l"/>
              <a:pathLst>
                <a:path h="1969685" w="2201485">
                  <a:moveTo>
                    <a:pt x="0" y="0"/>
                  </a:moveTo>
                  <a:lnTo>
                    <a:pt x="2201485" y="0"/>
                  </a:lnTo>
                  <a:lnTo>
                    <a:pt x="2201485" y="1969685"/>
                  </a:lnTo>
                  <a:lnTo>
                    <a:pt x="0" y="1969685"/>
                  </a:lnTo>
                  <a:close/>
                </a:path>
              </a:pathLst>
            </a:custGeom>
            <a:solidFill>
              <a:srgbClr val="F4F2E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201485" cy="201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-137527"/>
            <a:ext cx="1028700" cy="10562054"/>
            <a:chOff x="0" y="0"/>
            <a:chExt cx="270933" cy="27817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0933" cy="2781776"/>
            </a:xfrm>
            <a:custGeom>
              <a:avLst/>
              <a:gdLst/>
              <a:ahLst/>
              <a:cxnLst/>
              <a:rect r="r" b="b" t="t" l="l"/>
              <a:pathLst>
                <a:path h="2781776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81776"/>
                  </a:lnTo>
                  <a:lnTo>
                    <a:pt x="0" y="2781776"/>
                  </a:lnTo>
                  <a:close/>
                </a:path>
              </a:pathLst>
            </a:custGeom>
            <a:solidFill>
              <a:srgbClr val="65724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70933" cy="282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0119214" y="1651929"/>
            <a:ext cx="3173140" cy="3173128"/>
            <a:chOff x="0" y="0"/>
            <a:chExt cx="6350025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26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26">
                  <a:moveTo>
                    <a:pt x="0" y="0"/>
                  </a:moveTo>
                  <a:lnTo>
                    <a:pt x="6350026" y="0"/>
                  </a:lnTo>
                  <a:lnTo>
                    <a:pt x="6350026" y="6350000"/>
                  </a:lnTo>
                  <a:lnTo>
                    <a:pt x="0" y="6350000"/>
                  </a:lnTo>
                  <a:close/>
                </a:path>
              </a:pathLst>
            </a:custGeom>
            <a:blipFill>
              <a:blip r:embed="rId3"/>
              <a:stretch>
                <a:fillRect l="0" t="-4545" r="0" b="-4545"/>
              </a:stretch>
            </a:blip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4086160" y="1651929"/>
            <a:ext cx="3173140" cy="3173128"/>
            <a:chOff x="0" y="0"/>
            <a:chExt cx="6350025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26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26">
                  <a:moveTo>
                    <a:pt x="0" y="0"/>
                  </a:moveTo>
                  <a:lnTo>
                    <a:pt x="6350026" y="0"/>
                  </a:lnTo>
                  <a:lnTo>
                    <a:pt x="6350026" y="6350000"/>
                  </a:lnTo>
                  <a:lnTo>
                    <a:pt x="0" y="6350000"/>
                  </a:lnTo>
                  <a:close/>
                </a:path>
              </a:pathLst>
            </a:custGeom>
            <a:blipFill>
              <a:blip r:embed="rId4"/>
              <a:stretch>
                <a:fillRect l="0" t="-41998" r="-76629" b="-93509"/>
              </a:stretch>
            </a:blip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0119214" y="6085172"/>
            <a:ext cx="3173140" cy="3173128"/>
            <a:chOff x="0" y="0"/>
            <a:chExt cx="6350025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26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26">
                  <a:moveTo>
                    <a:pt x="0" y="0"/>
                  </a:moveTo>
                  <a:lnTo>
                    <a:pt x="6350026" y="0"/>
                  </a:lnTo>
                  <a:lnTo>
                    <a:pt x="6350026" y="6350000"/>
                  </a:lnTo>
                  <a:lnTo>
                    <a:pt x="0" y="635000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4086160" y="6085172"/>
            <a:ext cx="3173140" cy="3173128"/>
            <a:chOff x="0" y="0"/>
            <a:chExt cx="6350025" cy="635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50026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26">
                  <a:moveTo>
                    <a:pt x="0" y="0"/>
                  </a:moveTo>
                  <a:lnTo>
                    <a:pt x="6350026" y="0"/>
                  </a:lnTo>
                  <a:lnTo>
                    <a:pt x="6350026" y="6350000"/>
                  </a:lnTo>
                  <a:lnTo>
                    <a:pt x="0" y="6350000"/>
                  </a:lnTo>
                  <a:close/>
                </a:path>
              </a:pathLst>
            </a:custGeom>
            <a:blipFill>
              <a:blip r:embed="rId6"/>
              <a:stretch>
                <a:fillRect l="0" t="-16666" r="0" b="-16666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498354" y="1028700"/>
            <a:ext cx="1246458" cy="1246458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222222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468452" y="1028700"/>
            <a:ext cx="1246458" cy="1246458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222222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498354" y="5461943"/>
            <a:ext cx="1246458" cy="1246458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222222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468452" y="5461943"/>
            <a:ext cx="1246458" cy="1246458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222222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29" id="29"/>
          <p:cNvSpPr/>
          <p:nvPr/>
        </p:nvSpPr>
        <p:spPr>
          <a:xfrm>
            <a:off x="1673114" y="4829819"/>
            <a:ext cx="6492240" cy="0"/>
          </a:xfrm>
          <a:prstGeom prst="line">
            <a:avLst/>
          </a:prstGeom>
          <a:ln cap="flat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1673114" y="6645182"/>
            <a:ext cx="6492240" cy="0"/>
          </a:xfrm>
          <a:prstGeom prst="line">
            <a:avLst/>
          </a:prstGeom>
          <a:ln cap="flat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1673114" y="8419449"/>
            <a:ext cx="6492240" cy="0"/>
          </a:xfrm>
          <a:prstGeom prst="line">
            <a:avLst/>
          </a:prstGeom>
          <a:ln cap="flat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2" id="32"/>
          <p:cNvSpPr txBox="true"/>
          <p:nvPr/>
        </p:nvSpPr>
        <p:spPr>
          <a:xfrm rot="0">
            <a:off x="9487313" y="1321868"/>
            <a:ext cx="1257500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i="true">
                <a:solidFill>
                  <a:srgbClr val="222222"/>
                </a:solidFill>
                <a:latin typeface="TAN Angleton Italics"/>
                <a:ea typeface="TAN Angleton Italics"/>
                <a:cs typeface="TAN Angleton Italics"/>
                <a:sym typeface="TAN Angleton Italics"/>
              </a:rPr>
              <a:t>01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457410" y="1321868"/>
            <a:ext cx="1257500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i="true">
                <a:solidFill>
                  <a:srgbClr val="222222"/>
                </a:solidFill>
                <a:latin typeface="TAN Angleton Italics"/>
                <a:ea typeface="TAN Angleton Italics"/>
                <a:cs typeface="TAN Angleton Italics"/>
                <a:sym typeface="TAN Angleton Italics"/>
              </a:rPr>
              <a:t>02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487313" y="5755112"/>
            <a:ext cx="1257500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i="true">
                <a:solidFill>
                  <a:srgbClr val="222222"/>
                </a:solidFill>
                <a:latin typeface="TAN Angleton Italics"/>
                <a:ea typeface="TAN Angleton Italics"/>
                <a:cs typeface="TAN Angleton Italics"/>
                <a:sym typeface="TAN Angleton Italics"/>
              </a:rPr>
              <a:t>03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457410" y="5755112"/>
            <a:ext cx="1257500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i="true">
                <a:solidFill>
                  <a:srgbClr val="222222"/>
                </a:solidFill>
                <a:latin typeface="TAN Angleton Italics"/>
                <a:ea typeface="TAN Angleton Italics"/>
                <a:cs typeface="TAN Angleton Italics"/>
                <a:sym typeface="TAN Angleton Italics"/>
              </a:rPr>
              <a:t>04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03832" y="849342"/>
            <a:ext cx="6642347" cy="2103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491"/>
              </a:lnSpc>
            </a:pPr>
            <a:r>
              <a:rPr lang="en-US" b="true" sz="6065" i="true">
                <a:solidFill>
                  <a:srgbClr val="222222"/>
                </a:solidFill>
                <a:latin typeface="Cormorant Garamond Medium Italics"/>
                <a:ea typeface="Cormorant Garamond Medium Italics"/>
                <a:cs typeface="Cormorant Garamond Medium Italics"/>
                <a:sym typeface="Cormorant Garamond Medium Italics"/>
              </a:rPr>
              <a:t>INTEGRANTES DEL PROYECTO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759056" y="3564204"/>
            <a:ext cx="347359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699">
                <a:solidFill>
                  <a:srgbClr val="222222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DAMIAN NUÑEZ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73114" y="5518375"/>
            <a:ext cx="347359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699">
                <a:solidFill>
                  <a:srgbClr val="222222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SOFIA ALFARO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73114" y="7206916"/>
            <a:ext cx="3387655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699">
                <a:solidFill>
                  <a:srgbClr val="222222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VICENTE FARIAS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73114" y="9039664"/>
            <a:ext cx="347359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222222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TOMAS GARRIDO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791333" y="3041426"/>
            <a:ext cx="4155549" cy="1878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7"/>
              </a:lnSpc>
            </a:pPr>
            <a:r>
              <a:rPr lang="en-US" sz="1805" b="true">
                <a:solidFill>
                  <a:srgbClr val="222222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Scrum Master: </a:t>
            </a:r>
            <a:r>
              <a:rPr lang="en-US" sz="1805">
                <a:solidFill>
                  <a:srgbClr val="222222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Facilitar ceremonias ágiles (Planning, Daily, Review, Retro). Remover impedimentos y gestionar riesgos. Coordinar compras de materiales y documentación</a:t>
            </a:r>
          </a:p>
          <a:p>
            <a:pPr algn="just">
              <a:lnSpc>
                <a:spcPts val="2527"/>
              </a:lnSpc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4791333" y="4881512"/>
            <a:ext cx="4155549" cy="1878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27"/>
              </a:lnSpc>
              <a:spcBef>
                <a:spcPct val="0"/>
              </a:spcBef>
            </a:pPr>
            <a:r>
              <a:rPr lang="en-US" b="true" sz="1805" strike="noStrike" u="none">
                <a:solidFill>
                  <a:srgbClr val="222222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Product Owner:</a:t>
            </a:r>
            <a:r>
              <a:rPr lang="en-US" sz="1805" strike="noStrike" u="none">
                <a:solidFill>
                  <a:srgbClr val="222222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 Definir visión y priorizar el Product Backlog. Especificar criterios de aceptación. Coordinar validación con usuarios y aceptar incrementos</a:t>
            </a:r>
          </a:p>
          <a:p>
            <a:pPr algn="just" marL="0" indent="0" lvl="0">
              <a:lnSpc>
                <a:spcPts val="2527"/>
              </a:lnSpc>
              <a:spcBef>
                <a:spcPct val="0"/>
              </a:spcBef>
            </a:pPr>
          </a:p>
        </p:txBody>
      </p:sp>
      <p:sp>
        <p:nvSpPr>
          <p:cNvPr name="TextBox 43" id="43"/>
          <p:cNvSpPr txBox="true"/>
          <p:nvPr/>
        </p:nvSpPr>
        <p:spPr>
          <a:xfrm rot="0">
            <a:off x="4791333" y="6713593"/>
            <a:ext cx="4155549" cy="1878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27"/>
              </a:lnSpc>
              <a:spcBef>
                <a:spcPct val="0"/>
              </a:spcBef>
            </a:pPr>
            <a:r>
              <a:rPr lang="en-US" b="true" sz="1805" strike="noStrike" u="none">
                <a:solidFill>
                  <a:srgbClr val="222222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Developer Team:</a:t>
            </a:r>
            <a:r>
              <a:rPr lang="en-US" sz="1805" strike="noStrike" u="none">
                <a:solidFill>
                  <a:srgbClr val="222222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 </a:t>
            </a:r>
            <a:r>
              <a:rPr lang="en-US" sz="1805" strike="noStrike" u="none">
                <a:solidFill>
                  <a:srgbClr val="222222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Apoyar en integración de sensores y prototipo IoT. Desarrollar módulos de app y usabilidad. Realizar pruebas de seguridad y rendimiento</a:t>
            </a:r>
          </a:p>
          <a:p>
            <a:pPr algn="just" marL="0" indent="0" lvl="0">
              <a:lnSpc>
                <a:spcPts val="2527"/>
              </a:lnSpc>
              <a:spcBef>
                <a:spcPct val="0"/>
              </a:spcBef>
            </a:pPr>
          </a:p>
        </p:txBody>
      </p:sp>
      <p:sp>
        <p:nvSpPr>
          <p:cNvPr name="TextBox 44" id="44"/>
          <p:cNvSpPr txBox="true"/>
          <p:nvPr/>
        </p:nvSpPr>
        <p:spPr>
          <a:xfrm rot="0">
            <a:off x="4791333" y="8546341"/>
            <a:ext cx="4155549" cy="1878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27"/>
              </a:lnSpc>
              <a:spcBef>
                <a:spcPct val="0"/>
              </a:spcBef>
            </a:pPr>
            <a:r>
              <a:rPr lang="en-US" b="true" sz="1805" strike="noStrike" u="none">
                <a:solidFill>
                  <a:srgbClr val="222222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Developer Team:</a:t>
            </a:r>
            <a:r>
              <a:rPr lang="en-US" sz="1805" strike="noStrike" u="none">
                <a:solidFill>
                  <a:srgbClr val="222222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 Implementar firmware, backend y app. Diseñar base de datos y configurar CI/CD. Ejecutar pruebas unitarias, integración y end-to-end</a:t>
            </a:r>
          </a:p>
          <a:p>
            <a:pPr algn="just" marL="0" indent="0" lvl="0">
              <a:lnSpc>
                <a:spcPts val="2527"/>
              </a:lnSpc>
              <a:spcBef>
                <a:spcPct val="0"/>
              </a:spcBef>
            </a:pPr>
          </a:p>
        </p:txBody>
      </p:sp>
      <p:sp>
        <p:nvSpPr>
          <p:cNvPr name="TextBox 45" id="45"/>
          <p:cNvSpPr txBox="true"/>
          <p:nvPr/>
        </p:nvSpPr>
        <p:spPr>
          <a:xfrm rot="0">
            <a:off x="1203832" y="114563"/>
            <a:ext cx="3337356" cy="6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sz="3591">
                <a:solidFill>
                  <a:srgbClr val="65724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Proyecto: CultivIa</a:t>
            </a:r>
          </a:p>
        </p:txBody>
      </p:sp>
      <p:sp>
        <p:nvSpPr>
          <p:cNvPr name="AutoShape 46" id="46"/>
          <p:cNvSpPr/>
          <p:nvPr/>
        </p:nvSpPr>
        <p:spPr>
          <a:xfrm>
            <a:off x="1028700" y="808672"/>
            <a:ext cx="3644958" cy="0"/>
          </a:xfrm>
          <a:prstGeom prst="line">
            <a:avLst/>
          </a:prstGeom>
          <a:ln cap="flat" w="9525">
            <a:solidFill>
              <a:srgbClr val="6572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7" id="47"/>
          <p:cNvSpPr/>
          <p:nvPr/>
        </p:nvSpPr>
        <p:spPr>
          <a:xfrm flipH="false" flipV="false" rot="0">
            <a:off x="12354808" y="0"/>
            <a:ext cx="5952242" cy="1359243"/>
          </a:xfrm>
          <a:custGeom>
            <a:avLst/>
            <a:gdLst/>
            <a:ahLst/>
            <a:cxnLst/>
            <a:rect r="r" b="b" t="t" l="l"/>
            <a:pathLst>
              <a:path h="1359243" w="5952242">
                <a:moveTo>
                  <a:pt x="0" y="0"/>
                </a:moveTo>
                <a:lnTo>
                  <a:pt x="5952242" y="0"/>
                </a:lnTo>
                <a:lnTo>
                  <a:pt x="5952242" y="1359243"/>
                </a:lnTo>
                <a:lnTo>
                  <a:pt x="0" y="13592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47" r="0" b="-4218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72059"/>
            <a:ext cx="1028700" cy="10562054"/>
            <a:chOff x="0" y="0"/>
            <a:chExt cx="270933" cy="27817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933" cy="2781776"/>
            </a:xfrm>
            <a:custGeom>
              <a:avLst/>
              <a:gdLst/>
              <a:ahLst/>
              <a:cxnLst/>
              <a:rect r="r" b="b" t="t" l="l"/>
              <a:pathLst>
                <a:path h="2781776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81776"/>
                  </a:lnTo>
                  <a:lnTo>
                    <a:pt x="0" y="2781776"/>
                  </a:lnTo>
                  <a:close/>
                </a:path>
              </a:pathLst>
            </a:custGeom>
            <a:solidFill>
              <a:srgbClr val="65724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70933" cy="282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3636797" y="2778138"/>
            <a:ext cx="2755682" cy="2755682"/>
            <a:chOff x="0" y="0"/>
            <a:chExt cx="3282950" cy="3282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82950" cy="3282950"/>
            </a:xfrm>
            <a:custGeom>
              <a:avLst/>
              <a:gdLst/>
              <a:ahLst/>
              <a:cxnLst/>
              <a:rect r="r" b="b" t="t" l="l"/>
              <a:pathLst>
                <a:path h="3282950" w="3282950">
                  <a:moveTo>
                    <a:pt x="0" y="0"/>
                  </a:moveTo>
                  <a:lnTo>
                    <a:pt x="2532380" y="0"/>
                  </a:lnTo>
                  <a:cubicBezTo>
                    <a:pt x="2946400" y="0"/>
                    <a:pt x="3282950" y="336550"/>
                    <a:pt x="3282950" y="750570"/>
                  </a:cubicBezTo>
                  <a:lnTo>
                    <a:pt x="3282950" y="750570"/>
                  </a:lnTo>
                  <a:lnTo>
                    <a:pt x="3282950" y="3282950"/>
                  </a:lnTo>
                  <a:lnTo>
                    <a:pt x="3282950" y="3282950"/>
                  </a:lnTo>
                  <a:lnTo>
                    <a:pt x="0" y="3282950"/>
                  </a:lnTo>
                  <a:lnTo>
                    <a:pt x="0" y="328295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9243" r="0" b="-15645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1877486" y="2778138"/>
            <a:ext cx="2755682" cy="2755682"/>
            <a:chOff x="0" y="0"/>
            <a:chExt cx="3282950" cy="32829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82950" cy="3282950"/>
            </a:xfrm>
            <a:custGeom>
              <a:avLst/>
              <a:gdLst/>
              <a:ahLst/>
              <a:cxnLst/>
              <a:rect r="r" b="b" t="t" l="l"/>
              <a:pathLst>
                <a:path h="3282950" w="3282950">
                  <a:moveTo>
                    <a:pt x="0" y="0"/>
                  </a:moveTo>
                  <a:lnTo>
                    <a:pt x="2532380" y="0"/>
                  </a:lnTo>
                  <a:cubicBezTo>
                    <a:pt x="2946400" y="0"/>
                    <a:pt x="3282950" y="336550"/>
                    <a:pt x="3282950" y="750570"/>
                  </a:cubicBezTo>
                  <a:lnTo>
                    <a:pt x="3282950" y="750570"/>
                  </a:lnTo>
                  <a:lnTo>
                    <a:pt x="3282950" y="3282950"/>
                  </a:lnTo>
                  <a:lnTo>
                    <a:pt x="3282950" y="3282950"/>
                  </a:lnTo>
                  <a:lnTo>
                    <a:pt x="0" y="3282950"/>
                  </a:lnTo>
                  <a:lnTo>
                    <a:pt x="0" y="328295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5046" t="0" r="-25046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11438" y="847725"/>
            <a:ext cx="15865124" cy="1625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99"/>
              </a:lnSpc>
            </a:pPr>
            <a:r>
              <a:rPr lang="en-US" b="true" sz="9499" i="true">
                <a:solidFill>
                  <a:srgbClr val="222222"/>
                </a:solidFill>
                <a:latin typeface="Cormorant Garamond Medium Italics"/>
                <a:ea typeface="Cormorant Garamond Medium Italics"/>
                <a:cs typeface="Cormorant Garamond Medium Italics"/>
                <a:sym typeface="Cormorant Garamond Medium Italics"/>
              </a:rPr>
              <a:t>DESCRIPCIÓN DEL PROYECTO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28639" y="6535943"/>
            <a:ext cx="5971998" cy="208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399" i="true">
                <a:solidFill>
                  <a:srgbClr val="222222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Las personas suelen perder plantas por desconocimiento de su especie o de los cuidados adecuados (agua, luz, temperatura). En Chile, las soluciones IoT existentes son escasas o muy costosas.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28639" y="5740923"/>
            <a:ext cx="5971998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 i="true">
                <a:solidFill>
                  <a:srgbClr val="222222"/>
                </a:solidFill>
                <a:latin typeface="Cormorant Garamond Medium Italics"/>
                <a:ea typeface="Cormorant Garamond Medium Italics"/>
                <a:cs typeface="Cormorant Garamond Medium Italics"/>
                <a:sym typeface="Cormorant Garamond Medium Italics"/>
              </a:rPr>
              <a:t>PROBLEMA O DOLOR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69328" y="6312330"/>
            <a:ext cx="5971998" cy="4177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i="true">
                <a:solidFill>
                  <a:srgbClr val="222222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Diseñar e implementar un macetero inteligente con sensores y pantalla, conectado a una app multiplataforma que: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 i="true">
                <a:solidFill>
                  <a:srgbClr val="222222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Identifica la especie de la planta por foto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 i="true">
                <a:solidFill>
                  <a:srgbClr val="222222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Entrega diagnóstico y plan de cuidados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 i="true">
                <a:solidFill>
                  <a:srgbClr val="222222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Monitorea humedad, luz y temperatura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 i="true">
                <a:solidFill>
                  <a:srgbClr val="222222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Genera alertas y notificaciones en tiempo real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0095100" y="5740923"/>
            <a:ext cx="5971998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 i="true">
                <a:solidFill>
                  <a:srgbClr val="222222"/>
                </a:solidFill>
                <a:latin typeface="Cormorant Garamond Medium Italics"/>
                <a:ea typeface="Cormorant Garamond Medium Italics"/>
                <a:cs typeface="Cormorant Garamond Medium Italics"/>
                <a:sym typeface="Cormorant Garamond Medium Italics"/>
              </a:rPr>
              <a:t>PROPUESTA DE SOLUCIÓN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3832" y="114563"/>
            <a:ext cx="3337356" cy="6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sz="3591">
                <a:solidFill>
                  <a:srgbClr val="65724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Proyecto: CultivIa</a:t>
            </a:r>
          </a:p>
        </p:txBody>
      </p:sp>
      <p:sp>
        <p:nvSpPr>
          <p:cNvPr name="AutoShape 16" id="16"/>
          <p:cNvSpPr/>
          <p:nvPr/>
        </p:nvSpPr>
        <p:spPr>
          <a:xfrm>
            <a:off x="1028700" y="808672"/>
            <a:ext cx="3644958" cy="0"/>
          </a:xfrm>
          <a:prstGeom prst="line">
            <a:avLst/>
          </a:prstGeom>
          <a:ln cap="flat" w="9525">
            <a:solidFill>
              <a:srgbClr val="6572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12354808" y="0"/>
            <a:ext cx="5952242" cy="1359243"/>
          </a:xfrm>
          <a:custGeom>
            <a:avLst/>
            <a:gdLst/>
            <a:ahLst/>
            <a:cxnLst/>
            <a:rect r="r" b="b" t="t" l="l"/>
            <a:pathLst>
              <a:path h="1359243" w="5952242">
                <a:moveTo>
                  <a:pt x="0" y="0"/>
                </a:moveTo>
                <a:lnTo>
                  <a:pt x="5952242" y="0"/>
                </a:lnTo>
                <a:lnTo>
                  <a:pt x="5952242" y="1359243"/>
                </a:lnTo>
                <a:lnTo>
                  <a:pt x="0" y="13592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8054613" y="-522685"/>
            <a:ext cx="10722606" cy="8229600"/>
          </a:xfrm>
          <a:custGeom>
            <a:avLst/>
            <a:gdLst/>
            <a:ahLst/>
            <a:cxnLst/>
            <a:rect r="r" b="b" t="t" l="l"/>
            <a:pathLst>
              <a:path h="8229600" w="10722606">
                <a:moveTo>
                  <a:pt x="10722605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10722605" y="0"/>
                </a:lnTo>
                <a:lnTo>
                  <a:pt x="10722605" y="8229600"/>
                </a:lnTo>
                <a:close/>
              </a:path>
            </a:pathLst>
          </a:custGeom>
          <a:blipFill>
            <a:blip r:embed="rId2">
              <a:alphaModFix amt="35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137527"/>
            <a:ext cx="1028700" cy="10562054"/>
            <a:chOff x="0" y="0"/>
            <a:chExt cx="270933" cy="27817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933" cy="2781776"/>
            </a:xfrm>
            <a:custGeom>
              <a:avLst/>
              <a:gdLst/>
              <a:ahLst/>
              <a:cxnLst/>
              <a:rect r="r" b="b" t="t" l="l"/>
              <a:pathLst>
                <a:path h="2781776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81776"/>
                  </a:lnTo>
                  <a:lnTo>
                    <a:pt x="0" y="2781776"/>
                  </a:lnTo>
                  <a:close/>
                </a:path>
              </a:pathLst>
            </a:custGeom>
            <a:solidFill>
              <a:srgbClr val="65724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70933" cy="282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718979" y="1337547"/>
            <a:ext cx="5644418" cy="1226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64"/>
              </a:lnSpc>
            </a:pPr>
            <a:r>
              <a:rPr lang="en-US" b="true" sz="7189" i="true">
                <a:solidFill>
                  <a:srgbClr val="222222"/>
                </a:solidFill>
                <a:latin typeface="Cormorant Garamond Medium Italics"/>
                <a:ea typeface="Cormorant Garamond Medium Italics"/>
                <a:cs typeface="Cormorant Garamond Medium Italics"/>
                <a:sym typeface="Cormorant Garamond Medium Italics"/>
              </a:rPr>
              <a:t>Objetivo General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62284" y="1337547"/>
            <a:ext cx="6675715" cy="1226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64"/>
              </a:lnSpc>
            </a:pPr>
            <a:r>
              <a:rPr lang="en-US" b="true" sz="7189" i="true">
                <a:solidFill>
                  <a:srgbClr val="222222"/>
                </a:solidFill>
                <a:latin typeface="Cormorant Garamond Medium Italics"/>
                <a:ea typeface="Cormorant Garamond Medium Italics"/>
                <a:cs typeface="Cormorant Garamond Medium Italics"/>
                <a:sym typeface="Cormorant Garamond Medium Italics"/>
              </a:rPr>
              <a:t>Objetivo Específicos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03832" y="114563"/>
            <a:ext cx="3337356" cy="6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sz="3591">
                <a:solidFill>
                  <a:srgbClr val="65724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Proyecto: CultivIa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80214" y="3022671"/>
            <a:ext cx="5921948" cy="5031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6"/>
              </a:lnSpc>
              <a:spcBef>
                <a:spcPct val="0"/>
              </a:spcBef>
            </a:pPr>
            <a:r>
              <a:rPr lang="en-US" sz="289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Desarrollar una aplicación móvil inteligente que facilite la identificación de plantas y el diagnóstico de enfermedades mediante el uso de inteligencia artificial, promoviendo el cuidado eficiente y sostenible de las plantas a través de recomendaciones personalizadas y monitoreo en tiempo real.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72685" y="2888030"/>
            <a:ext cx="9113453" cy="743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70089" indent="-285045" lvl="1">
              <a:lnSpc>
                <a:spcPts val="3696"/>
              </a:lnSpc>
              <a:buFont typeface="Arial"/>
              <a:buChar char="•"/>
            </a:pPr>
            <a:r>
              <a:rPr lang="en-US" sz="264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ent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 el 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u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so de 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he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rr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am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ie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nta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 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ecnol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ógic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que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y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en 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j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ar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din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er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í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y 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c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ui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dado 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sponsab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de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as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pl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s.</a:t>
            </a:r>
          </a:p>
          <a:p>
            <a:pPr algn="just" marL="570089" indent="-285045" lvl="1">
              <a:lnSpc>
                <a:spcPts val="3696"/>
              </a:lnSpc>
              <a:buFont typeface="Arial"/>
              <a:buChar char="•"/>
            </a:pP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Op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im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za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 l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ex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ienc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de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usu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ar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 med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te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u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 p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ata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form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 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intuitiva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u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centr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li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 la i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nfo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ación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,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e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hi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or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y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el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s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guimi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en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 de 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cada p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an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ta.</a:t>
            </a:r>
          </a:p>
          <a:p>
            <a:pPr algn="just" marL="570089" indent="-285045" lvl="1">
              <a:lnSpc>
                <a:spcPts val="3696"/>
              </a:lnSpc>
              <a:buFont typeface="Arial"/>
              <a:buChar char="•"/>
            </a:pP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ro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move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 l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ad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op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ción 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prác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tica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 de 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ult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vo s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ste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ibl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es 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dia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nte a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cc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eso a 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tos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b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enta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les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y 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ec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me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aci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ne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erso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ali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z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as.</a:t>
            </a:r>
          </a:p>
          <a:p>
            <a:pPr algn="just" marL="570089" indent="-285045" lvl="1">
              <a:lnSpc>
                <a:spcPts val="3696"/>
              </a:lnSpc>
              <a:buFont typeface="Arial"/>
              <a:buChar char="•"/>
            </a:pP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ntiv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ar 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la par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ti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ación 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ont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u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 del usuario 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tr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vé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 de u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si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st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ema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d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 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eco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mp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sa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s,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not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ac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ones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y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cont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ni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 ed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uca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iv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o.</a:t>
            </a:r>
          </a:p>
          <a:p>
            <a:pPr algn="just" marL="570089" indent="-285045" lvl="1">
              <a:lnSpc>
                <a:spcPts val="3696"/>
              </a:lnSpc>
              <a:buFont typeface="Arial"/>
              <a:buChar char="•"/>
            </a:pP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Conso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lidar 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u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 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eco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sis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 di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g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ue 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mb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 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li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g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cia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a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rtifi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ial 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I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nt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rn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et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de 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la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Cos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 (I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T)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 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jorar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re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lación ent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p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son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y 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sus pl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ant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as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</a:p>
          <a:p>
            <a:pPr algn="just">
              <a:lnSpc>
                <a:spcPts val="3696"/>
              </a:lnSpc>
            </a:pPr>
          </a:p>
        </p:txBody>
      </p:sp>
      <p:sp>
        <p:nvSpPr>
          <p:cNvPr name="AutoShape 11" id="11"/>
          <p:cNvSpPr/>
          <p:nvPr/>
        </p:nvSpPr>
        <p:spPr>
          <a:xfrm>
            <a:off x="1028700" y="808672"/>
            <a:ext cx="3644958" cy="0"/>
          </a:xfrm>
          <a:prstGeom prst="line">
            <a:avLst/>
          </a:prstGeom>
          <a:ln cap="flat" w="9525">
            <a:solidFill>
              <a:srgbClr val="6572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2354808" y="0"/>
            <a:ext cx="5952242" cy="1359243"/>
          </a:xfrm>
          <a:custGeom>
            <a:avLst/>
            <a:gdLst/>
            <a:ahLst/>
            <a:cxnLst/>
            <a:rect r="r" b="b" t="t" l="l"/>
            <a:pathLst>
              <a:path h="1359243" w="5952242">
                <a:moveTo>
                  <a:pt x="0" y="0"/>
                </a:moveTo>
                <a:lnTo>
                  <a:pt x="5952242" y="0"/>
                </a:lnTo>
                <a:lnTo>
                  <a:pt x="5952242" y="1359243"/>
                </a:lnTo>
                <a:lnTo>
                  <a:pt x="0" y="1359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7565394" y="0"/>
            <a:ext cx="10722606" cy="8229600"/>
          </a:xfrm>
          <a:custGeom>
            <a:avLst/>
            <a:gdLst/>
            <a:ahLst/>
            <a:cxnLst/>
            <a:rect r="r" b="b" t="t" l="l"/>
            <a:pathLst>
              <a:path h="8229600" w="10722606">
                <a:moveTo>
                  <a:pt x="10722606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10722606" y="0"/>
                </a:lnTo>
                <a:lnTo>
                  <a:pt x="10722606" y="8229600"/>
                </a:lnTo>
                <a:close/>
              </a:path>
            </a:pathLst>
          </a:custGeom>
          <a:blipFill>
            <a:blip r:embed="rId2">
              <a:alphaModFix amt="35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137527"/>
            <a:ext cx="1028700" cy="10562054"/>
            <a:chOff x="0" y="0"/>
            <a:chExt cx="270933" cy="27817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933" cy="2781776"/>
            </a:xfrm>
            <a:custGeom>
              <a:avLst/>
              <a:gdLst/>
              <a:ahLst/>
              <a:cxnLst/>
              <a:rect r="r" b="b" t="t" l="l"/>
              <a:pathLst>
                <a:path h="2781776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81776"/>
                  </a:lnTo>
                  <a:lnTo>
                    <a:pt x="0" y="2781776"/>
                  </a:lnTo>
                  <a:close/>
                </a:path>
              </a:pathLst>
            </a:custGeom>
            <a:solidFill>
              <a:srgbClr val="65724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70933" cy="282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872496" y="1337547"/>
            <a:ext cx="2849102" cy="1226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64"/>
              </a:lnSpc>
            </a:pPr>
            <a:r>
              <a:rPr lang="en-US" b="true" sz="7189" i="true">
                <a:solidFill>
                  <a:srgbClr val="222222"/>
                </a:solidFill>
                <a:latin typeface="Cormorant Garamond Medium Italics"/>
                <a:ea typeface="Cormorant Garamond Medium Italics"/>
                <a:cs typeface="Cormorant Garamond Medium Italics"/>
                <a:sym typeface="Cormorant Garamond Medium Italics"/>
              </a:rPr>
              <a:t>Alcance: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49011" y="1337547"/>
            <a:ext cx="4369974" cy="1226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64"/>
              </a:lnSpc>
            </a:pPr>
            <a:r>
              <a:rPr lang="en-US" b="true" sz="7189" i="true">
                <a:solidFill>
                  <a:srgbClr val="222222"/>
                </a:solidFill>
                <a:latin typeface="Cormorant Garamond Medium Italics"/>
                <a:ea typeface="Cormorant Garamond Medium Italics"/>
                <a:cs typeface="Cormorant Garamond Medium Italics"/>
                <a:sym typeface="Cormorant Garamond Medium Italics"/>
              </a:rPr>
              <a:t>Limitaciones: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03832" y="114563"/>
            <a:ext cx="3337356" cy="6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sz="3591">
                <a:solidFill>
                  <a:srgbClr val="65724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Proyecto: CultivIa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17981" y="2583230"/>
            <a:ext cx="5846415" cy="744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8920" indent="-329460" lvl="1">
              <a:lnSpc>
                <a:spcPts val="4272"/>
              </a:lnSpc>
              <a:spcBef>
                <a:spcPct val="0"/>
              </a:spcBef>
              <a:buFont typeface="Arial"/>
              <a:buChar char="•"/>
            </a:pPr>
            <a:r>
              <a:rPr lang="en-US" sz="305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Desarrollo de MVP funcional (macetero IoT + app multiplataforma)</a:t>
            </a:r>
          </a:p>
          <a:p>
            <a:pPr algn="l" marL="658920" indent="-329460" lvl="1">
              <a:lnSpc>
                <a:spcPts val="4272"/>
              </a:lnSpc>
              <a:spcBef>
                <a:spcPct val="0"/>
              </a:spcBef>
              <a:buFont typeface="Arial"/>
              <a:buChar char="•"/>
            </a:pPr>
            <a:r>
              <a:rPr lang="en-US" sz="305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Identificación de plantas por foto (top-3 con confirmación del usuario)</a:t>
            </a:r>
          </a:p>
          <a:p>
            <a:pPr algn="l" marL="658920" indent="-329460" lvl="1">
              <a:lnSpc>
                <a:spcPts val="4272"/>
              </a:lnSpc>
              <a:spcBef>
                <a:spcPct val="0"/>
              </a:spcBef>
              <a:buFont typeface="Arial"/>
              <a:buChar char="•"/>
            </a:pPr>
            <a:r>
              <a:rPr lang="en-US" sz="305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Monitoreo de variables ambientales (humedad, luz, temperatura)</a:t>
            </a:r>
          </a:p>
          <a:p>
            <a:pPr algn="l" marL="658920" indent="-329460" lvl="1">
              <a:lnSpc>
                <a:spcPts val="4272"/>
              </a:lnSpc>
              <a:spcBef>
                <a:spcPct val="0"/>
              </a:spcBef>
              <a:buFont typeface="Arial"/>
              <a:buChar char="•"/>
            </a:pPr>
            <a:r>
              <a:rPr lang="en-US" sz="305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Notificaciones y alertas de cuidado</a:t>
            </a:r>
          </a:p>
          <a:p>
            <a:pPr algn="l" marL="658920" indent="-329460" lvl="1">
              <a:lnSpc>
                <a:spcPts val="4272"/>
              </a:lnSpc>
              <a:spcBef>
                <a:spcPct val="0"/>
              </a:spcBef>
              <a:buFont typeface="Arial"/>
              <a:buChar char="•"/>
            </a:pPr>
            <a:r>
              <a:rPr lang="en-US" sz="305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Historial de lecturas y recomendaciones</a:t>
            </a:r>
          </a:p>
          <a:p>
            <a:pPr algn="l">
              <a:lnSpc>
                <a:spcPts val="4272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229996" y="2724810"/>
            <a:ext cx="7608003" cy="478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8920" indent="-329460" lvl="1">
              <a:lnSpc>
                <a:spcPts val="4272"/>
              </a:lnSpc>
              <a:spcBef>
                <a:spcPct val="0"/>
              </a:spcBef>
              <a:buFont typeface="Arial"/>
              <a:buChar char="•"/>
            </a:pPr>
            <a:r>
              <a:rPr lang="en-US" sz="3051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se incluye riego automático en esta primera versión (posible futura iteración)</a:t>
            </a:r>
          </a:p>
          <a:p>
            <a:pPr algn="l" marL="658920" indent="-329460" lvl="1">
              <a:lnSpc>
                <a:spcPts val="4272"/>
              </a:lnSpc>
              <a:spcBef>
                <a:spcPct val="0"/>
              </a:spcBef>
              <a:buFont typeface="Arial"/>
              <a:buChar char="•"/>
            </a:pPr>
            <a:r>
              <a:rPr lang="en-US" sz="3051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Identificación de plantas limitada a dataset inicial (no todas las especies)</a:t>
            </a:r>
          </a:p>
          <a:p>
            <a:pPr algn="l" marL="658920" indent="-329460" lvl="1">
              <a:lnSpc>
                <a:spcPts val="4272"/>
              </a:lnSpc>
              <a:spcBef>
                <a:spcPct val="0"/>
              </a:spcBef>
              <a:buFont typeface="Arial"/>
              <a:buChar char="•"/>
            </a:pPr>
            <a:r>
              <a:rPr lang="en-US" sz="3051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Dependencia de hardware de bajo costo (precisión de sensores moderada)</a:t>
            </a:r>
          </a:p>
          <a:p>
            <a:pPr algn="l" marL="658920" indent="-329460" lvl="1">
              <a:lnSpc>
                <a:spcPts val="4272"/>
              </a:lnSpc>
              <a:spcBef>
                <a:spcPct val="0"/>
              </a:spcBef>
              <a:buFont typeface="Arial"/>
              <a:buChar char="•"/>
            </a:pPr>
            <a:r>
              <a:rPr lang="en-US" sz="3051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Proyecto limitado al semestre académico</a:t>
            </a:r>
          </a:p>
        </p:txBody>
      </p:sp>
      <p:sp>
        <p:nvSpPr>
          <p:cNvPr name="AutoShape 11" id="11"/>
          <p:cNvSpPr/>
          <p:nvPr/>
        </p:nvSpPr>
        <p:spPr>
          <a:xfrm>
            <a:off x="1028700" y="808672"/>
            <a:ext cx="3644958" cy="0"/>
          </a:xfrm>
          <a:prstGeom prst="line">
            <a:avLst/>
          </a:prstGeom>
          <a:ln cap="flat" w="9525">
            <a:solidFill>
              <a:srgbClr val="6572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2354808" y="0"/>
            <a:ext cx="5952242" cy="1359243"/>
          </a:xfrm>
          <a:custGeom>
            <a:avLst/>
            <a:gdLst/>
            <a:ahLst/>
            <a:cxnLst/>
            <a:rect r="r" b="b" t="t" l="l"/>
            <a:pathLst>
              <a:path h="1359243" w="5952242">
                <a:moveTo>
                  <a:pt x="0" y="0"/>
                </a:moveTo>
                <a:lnTo>
                  <a:pt x="5952242" y="0"/>
                </a:lnTo>
                <a:lnTo>
                  <a:pt x="5952242" y="1359243"/>
                </a:lnTo>
                <a:lnTo>
                  <a:pt x="0" y="1359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1968" y="0"/>
            <a:ext cx="7743380" cy="10287000"/>
            <a:chOff x="0" y="0"/>
            <a:chExt cx="10324507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11295" t="43251" r="31749" b="0"/>
            <a:stretch>
              <a:fillRect/>
            </a:stretch>
          </p:blipFill>
          <p:spPr>
            <a:xfrm flipH="false" flipV="false">
              <a:off x="0" y="0"/>
              <a:ext cx="6883005" cy="9144000"/>
            </a:xfrm>
            <a:prstGeom prst="rect">
              <a:avLst/>
            </a:prstGeom>
          </p:spPr>
        </p:pic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23138" t="25624" r="0" b="6344"/>
            <a:stretch>
              <a:fillRect/>
            </a:stretch>
          </p:blipFill>
          <p:spPr>
            <a:xfrm flipH="false" flipV="false">
              <a:off x="6883005" y="0"/>
              <a:ext cx="3441502" cy="4572000"/>
            </a:xfrm>
            <a:prstGeom prst="rect">
              <a:avLst/>
            </a:prstGeom>
          </p:spPr>
        </p:pic>
        <p:sp>
          <p:nvSpPr>
            <p:cNvPr name="AutoShape 5" id="5"/>
            <p:cNvSpPr/>
            <p:nvPr/>
          </p:nvSpPr>
          <p:spPr>
            <a:xfrm>
              <a:off x="0" y="9144000"/>
              <a:ext cx="6883005" cy="4572000"/>
            </a:xfrm>
            <a:prstGeom prst="rect">
              <a:avLst/>
            </a:prstGeom>
            <a:solidFill>
              <a:srgbClr val="E6E2D6"/>
            </a:solidFill>
          </p:spPr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4"/>
            <a:srcRect l="8356" t="0" r="35153" b="0"/>
            <a:stretch>
              <a:fillRect/>
            </a:stretch>
          </p:blipFill>
          <p:spPr>
            <a:xfrm flipH="false" flipV="false">
              <a:off x="6883005" y="4572000"/>
              <a:ext cx="3441502" cy="9144000"/>
            </a:xfrm>
            <a:prstGeom prst="rect">
              <a:avLst/>
            </a:prstGeom>
          </p:spPr>
        </p:pic>
      </p:grpSp>
      <p:grpSp>
        <p:nvGrpSpPr>
          <p:cNvPr name="Group 7" id="7"/>
          <p:cNvGrpSpPr/>
          <p:nvPr/>
        </p:nvGrpSpPr>
        <p:grpSpPr>
          <a:xfrm rot="0">
            <a:off x="0" y="-137527"/>
            <a:ext cx="1028700" cy="10562054"/>
            <a:chOff x="0" y="0"/>
            <a:chExt cx="270933" cy="27817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0933" cy="2781776"/>
            </a:xfrm>
            <a:custGeom>
              <a:avLst/>
              <a:gdLst/>
              <a:ahLst/>
              <a:cxnLst/>
              <a:rect r="r" b="b" t="t" l="l"/>
              <a:pathLst>
                <a:path h="2781776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81776"/>
                  </a:lnTo>
                  <a:lnTo>
                    <a:pt x="0" y="2781776"/>
                  </a:lnTo>
                  <a:close/>
                </a:path>
              </a:pathLst>
            </a:custGeom>
            <a:solidFill>
              <a:srgbClr val="65724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70933" cy="282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259160" y="1216368"/>
            <a:ext cx="7058829" cy="2795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99"/>
              </a:lnSpc>
            </a:pPr>
            <a:r>
              <a:rPr lang="en-US" b="true" sz="8070" i="true">
                <a:solidFill>
                  <a:srgbClr val="222222"/>
                </a:solidFill>
                <a:latin typeface="Cormorant Garamond Medium Italics"/>
                <a:ea typeface="Cormorant Garamond Medium Italics"/>
                <a:cs typeface="Cormorant Garamond Medium Italics"/>
                <a:sym typeface="Cormorant Garamond Medium Italics"/>
              </a:rPr>
              <a:t>Metodología de trabajo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12666" y="4143781"/>
            <a:ext cx="6205324" cy="5336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60"/>
              </a:lnSpc>
            </a:pPr>
            <a:r>
              <a:rPr lang="en-US" sz="3043">
                <a:solidFill>
                  <a:srgbClr val="222222"/>
                </a:solidFill>
                <a:latin typeface="IBM Plex Sans"/>
                <a:ea typeface="IBM Plex Sans"/>
                <a:cs typeface="IBM Plex Sans"/>
                <a:sym typeface="IBM Plex Sans"/>
              </a:rPr>
              <a:t>El desarrollo se llevó a cabo bajo el marco de trabajo Scrum, con sprints quincenales</a:t>
            </a:r>
            <a:r>
              <a:rPr lang="en-US" sz="3043">
                <a:solidFill>
                  <a:srgbClr val="222222"/>
                </a:solidFill>
                <a:latin typeface="IBM Plex Sans"/>
                <a:ea typeface="IBM Plex Sans"/>
                <a:cs typeface="IBM Plex Sans"/>
                <a:sym typeface="IBM Plex Sans"/>
              </a:rPr>
              <a:t> planificados y gestionados mediante Jira.</a:t>
            </a:r>
          </a:p>
          <a:p>
            <a:pPr algn="just">
              <a:lnSpc>
                <a:spcPts val="4260"/>
              </a:lnSpc>
            </a:pPr>
          </a:p>
          <a:p>
            <a:pPr algn="just">
              <a:lnSpc>
                <a:spcPts val="4260"/>
              </a:lnSpc>
            </a:pPr>
            <a:r>
              <a:rPr lang="en-US" sz="3043">
                <a:solidFill>
                  <a:srgbClr val="222222"/>
                </a:solidFill>
                <a:latin typeface="IBM Plex Sans"/>
                <a:ea typeface="IBM Plex Sans"/>
                <a:cs typeface="IBM Plex Sans"/>
                <a:sym typeface="IBM Plex Sans"/>
              </a:rPr>
              <a:t>El enfoque ágil permitió entregar incrementos funcionales de forma continua, priorizando las historias de usuario de mayor valor.</a:t>
            </a:r>
          </a:p>
          <a:p>
            <a:pPr algn="just">
              <a:lnSpc>
                <a:spcPts val="426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203832" y="114563"/>
            <a:ext cx="3337356" cy="6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sz="3591">
                <a:solidFill>
                  <a:srgbClr val="65724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Proyecto: CultivIa</a:t>
            </a:r>
          </a:p>
        </p:txBody>
      </p:sp>
      <p:sp>
        <p:nvSpPr>
          <p:cNvPr name="AutoShape 13" id="13"/>
          <p:cNvSpPr/>
          <p:nvPr/>
        </p:nvSpPr>
        <p:spPr>
          <a:xfrm>
            <a:off x="1028700" y="808672"/>
            <a:ext cx="3644958" cy="0"/>
          </a:xfrm>
          <a:prstGeom prst="line">
            <a:avLst/>
          </a:prstGeom>
          <a:ln cap="flat" w="9525">
            <a:solidFill>
              <a:srgbClr val="6572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2354808" y="0"/>
            <a:ext cx="5952242" cy="1359243"/>
          </a:xfrm>
          <a:custGeom>
            <a:avLst/>
            <a:gdLst/>
            <a:ahLst/>
            <a:cxnLst/>
            <a:rect r="r" b="b" t="t" l="l"/>
            <a:pathLst>
              <a:path h="1359243" w="5952242">
                <a:moveTo>
                  <a:pt x="0" y="0"/>
                </a:moveTo>
                <a:lnTo>
                  <a:pt x="5952242" y="0"/>
                </a:lnTo>
                <a:lnTo>
                  <a:pt x="5952242" y="1359243"/>
                </a:lnTo>
                <a:lnTo>
                  <a:pt x="0" y="13592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137527"/>
            <a:ext cx="1028700" cy="10562054"/>
            <a:chOff x="0" y="0"/>
            <a:chExt cx="270933" cy="27817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933" cy="2781776"/>
            </a:xfrm>
            <a:custGeom>
              <a:avLst/>
              <a:gdLst/>
              <a:ahLst/>
              <a:cxnLst/>
              <a:rect r="r" b="b" t="t" l="l"/>
              <a:pathLst>
                <a:path h="2781776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81776"/>
                  </a:lnTo>
                  <a:lnTo>
                    <a:pt x="0" y="2781776"/>
                  </a:lnTo>
                  <a:close/>
                </a:path>
              </a:pathLst>
            </a:custGeom>
            <a:solidFill>
              <a:srgbClr val="65724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70933" cy="282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22958" y="997528"/>
            <a:ext cx="15569981" cy="209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222222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RELEASE PLAN DEL DESARROLLO DEL PROYECTO</a:t>
            </a:r>
          </a:p>
        </p:txBody>
      </p:sp>
      <p:sp>
        <p:nvSpPr>
          <p:cNvPr name="AutoShape 7" id="7"/>
          <p:cNvSpPr/>
          <p:nvPr/>
        </p:nvSpPr>
        <p:spPr>
          <a:xfrm>
            <a:off x="1028700" y="808672"/>
            <a:ext cx="3644958" cy="0"/>
          </a:xfrm>
          <a:prstGeom prst="line">
            <a:avLst/>
          </a:prstGeom>
          <a:ln cap="flat" w="9525">
            <a:solidFill>
              <a:srgbClr val="6572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2354808" y="0"/>
            <a:ext cx="5952242" cy="1359243"/>
          </a:xfrm>
          <a:custGeom>
            <a:avLst/>
            <a:gdLst/>
            <a:ahLst/>
            <a:cxnLst/>
            <a:rect r="r" b="b" t="t" l="l"/>
            <a:pathLst>
              <a:path h="1359243" w="5952242">
                <a:moveTo>
                  <a:pt x="0" y="0"/>
                </a:moveTo>
                <a:lnTo>
                  <a:pt x="5952242" y="0"/>
                </a:lnTo>
                <a:lnTo>
                  <a:pt x="5952242" y="1359243"/>
                </a:lnTo>
                <a:lnTo>
                  <a:pt x="0" y="1359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581039" y="3093027"/>
            <a:ext cx="12653819" cy="7117773"/>
          </a:xfrm>
          <a:custGeom>
            <a:avLst/>
            <a:gdLst/>
            <a:ahLst/>
            <a:cxnLst/>
            <a:rect r="r" b="b" t="t" l="l"/>
            <a:pathLst>
              <a:path h="7117773" w="12653819">
                <a:moveTo>
                  <a:pt x="0" y="0"/>
                </a:moveTo>
                <a:lnTo>
                  <a:pt x="12653819" y="0"/>
                </a:lnTo>
                <a:lnTo>
                  <a:pt x="12653819" y="7117773"/>
                </a:lnTo>
                <a:lnTo>
                  <a:pt x="0" y="71177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03832" y="114563"/>
            <a:ext cx="3337356" cy="6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sz="3591">
                <a:solidFill>
                  <a:srgbClr val="65724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Proyecto: CultivIa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137527"/>
            <a:ext cx="1028700" cy="10562054"/>
            <a:chOff x="0" y="0"/>
            <a:chExt cx="270933" cy="27817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933" cy="2781776"/>
            </a:xfrm>
            <a:custGeom>
              <a:avLst/>
              <a:gdLst/>
              <a:ahLst/>
              <a:cxnLst/>
              <a:rect r="r" b="b" t="t" l="l"/>
              <a:pathLst>
                <a:path h="2781776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81776"/>
                  </a:lnTo>
                  <a:lnTo>
                    <a:pt x="0" y="2781776"/>
                  </a:lnTo>
                  <a:close/>
                </a:path>
              </a:pathLst>
            </a:custGeom>
            <a:solidFill>
              <a:srgbClr val="65724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70933" cy="282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22958" y="997528"/>
            <a:ext cx="15569981" cy="209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222222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RELEASE PLAN DEL DESARROLLO DEL PROYECTO</a:t>
            </a:r>
          </a:p>
        </p:txBody>
      </p:sp>
      <p:sp>
        <p:nvSpPr>
          <p:cNvPr name="AutoShape 7" id="7"/>
          <p:cNvSpPr/>
          <p:nvPr/>
        </p:nvSpPr>
        <p:spPr>
          <a:xfrm>
            <a:off x="1028700" y="808672"/>
            <a:ext cx="3644958" cy="0"/>
          </a:xfrm>
          <a:prstGeom prst="line">
            <a:avLst/>
          </a:prstGeom>
          <a:ln cap="flat" w="9525">
            <a:solidFill>
              <a:srgbClr val="6572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2354808" y="0"/>
            <a:ext cx="5952242" cy="1359243"/>
          </a:xfrm>
          <a:custGeom>
            <a:avLst/>
            <a:gdLst/>
            <a:ahLst/>
            <a:cxnLst/>
            <a:rect r="r" b="b" t="t" l="l"/>
            <a:pathLst>
              <a:path h="1359243" w="5952242">
                <a:moveTo>
                  <a:pt x="0" y="0"/>
                </a:moveTo>
                <a:lnTo>
                  <a:pt x="5952242" y="0"/>
                </a:lnTo>
                <a:lnTo>
                  <a:pt x="5952242" y="1359243"/>
                </a:lnTo>
                <a:lnTo>
                  <a:pt x="0" y="1359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122958" y="3169227"/>
            <a:ext cx="15903025" cy="6560640"/>
          </a:xfrm>
          <a:custGeom>
            <a:avLst/>
            <a:gdLst/>
            <a:ahLst/>
            <a:cxnLst/>
            <a:rect r="r" b="b" t="t" l="l"/>
            <a:pathLst>
              <a:path h="6560640" w="15903025">
                <a:moveTo>
                  <a:pt x="0" y="0"/>
                </a:moveTo>
                <a:lnTo>
                  <a:pt x="15903024" y="0"/>
                </a:lnTo>
                <a:lnTo>
                  <a:pt x="15903024" y="6560640"/>
                </a:lnTo>
                <a:lnTo>
                  <a:pt x="0" y="65606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243" t="-5178" r="-11572" b="-6637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03832" y="114563"/>
            <a:ext cx="3337356" cy="6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sz="3591">
                <a:solidFill>
                  <a:srgbClr val="65724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Proyecto: CultivIa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137527"/>
            <a:ext cx="1028700" cy="10562054"/>
            <a:chOff x="0" y="0"/>
            <a:chExt cx="270933" cy="27817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933" cy="2781776"/>
            </a:xfrm>
            <a:custGeom>
              <a:avLst/>
              <a:gdLst/>
              <a:ahLst/>
              <a:cxnLst/>
              <a:rect r="r" b="b" t="t" l="l"/>
              <a:pathLst>
                <a:path h="2781776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81776"/>
                  </a:lnTo>
                  <a:lnTo>
                    <a:pt x="0" y="2781776"/>
                  </a:lnTo>
                  <a:close/>
                </a:path>
              </a:pathLst>
            </a:custGeom>
            <a:solidFill>
              <a:srgbClr val="65724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70933" cy="282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22958" y="997528"/>
            <a:ext cx="15569981" cy="209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222222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RELEASE PLAN DEL DESARROLLO DEL PROYECTO</a:t>
            </a:r>
          </a:p>
        </p:txBody>
      </p:sp>
      <p:sp>
        <p:nvSpPr>
          <p:cNvPr name="AutoShape 7" id="7"/>
          <p:cNvSpPr/>
          <p:nvPr/>
        </p:nvSpPr>
        <p:spPr>
          <a:xfrm>
            <a:off x="1028700" y="808672"/>
            <a:ext cx="3644958" cy="0"/>
          </a:xfrm>
          <a:prstGeom prst="line">
            <a:avLst/>
          </a:prstGeom>
          <a:ln cap="flat" w="9525">
            <a:solidFill>
              <a:srgbClr val="6572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2354808" y="0"/>
            <a:ext cx="5952242" cy="1359243"/>
          </a:xfrm>
          <a:custGeom>
            <a:avLst/>
            <a:gdLst/>
            <a:ahLst/>
            <a:cxnLst/>
            <a:rect r="r" b="b" t="t" l="l"/>
            <a:pathLst>
              <a:path h="1359243" w="5952242">
                <a:moveTo>
                  <a:pt x="0" y="0"/>
                </a:moveTo>
                <a:lnTo>
                  <a:pt x="5952242" y="0"/>
                </a:lnTo>
                <a:lnTo>
                  <a:pt x="5952242" y="1359243"/>
                </a:lnTo>
                <a:lnTo>
                  <a:pt x="0" y="1359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932787" y="3727458"/>
            <a:ext cx="15950322" cy="4101193"/>
          </a:xfrm>
          <a:custGeom>
            <a:avLst/>
            <a:gdLst/>
            <a:ahLst/>
            <a:cxnLst/>
            <a:rect r="r" b="b" t="t" l="l"/>
            <a:pathLst>
              <a:path h="4101193" w="15950322">
                <a:moveTo>
                  <a:pt x="0" y="0"/>
                </a:moveTo>
                <a:lnTo>
                  <a:pt x="15950322" y="0"/>
                </a:lnTo>
                <a:lnTo>
                  <a:pt x="15950322" y="4101193"/>
                </a:lnTo>
                <a:lnTo>
                  <a:pt x="0" y="4101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904" t="-161666" r="-11538" b="-12759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03832" y="114563"/>
            <a:ext cx="3337356" cy="6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sz="3591">
                <a:solidFill>
                  <a:srgbClr val="65724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Proyecto: CultivIa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137527"/>
            <a:ext cx="1028700" cy="10562054"/>
            <a:chOff x="0" y="0"/>
            <a:chExt cx="270933" cy="27817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933" cy="2781776"/>
            </a:xfrm>
            <a:custGeom>
              <a:avLst/>
              <a:gdLst/>
              <a:ahLst/>
              <a:cxnLst/>
              <a:rect r="r" b="b" t="t" l="l"/>
              <a:pathLst>
                <a:path h="2781776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81776"/>
                  </a:lnTo>
                  <a:lnTo>
                    <a:pt x="0" y="2781776"/>
                  </a:lnTo>
                  <a:close/>
                </a:path>
              </a:pathLst>
            </a:custGeom>
            <a:solidFill>
              <a:srgbClr val="65724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70933" cy="282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256250" y="843453"/>
            <a:ext cx="15569981" cy="688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b="true" sz="4000">
                <a:solidFill>
                  <a:srgbClr val="222222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ARQUITECTURA DEL SOFTWARE</a:t>
            </a:r>
          </a:p>
        </p:txBody>
      </p:sp>
      <p:sp>
        <p:nvSpPr>
          <p:cNvPr name="AutoShape 7" id="7"/>
          <p:cNvSpPr/>
          <p:nvPr/>
        </p:nvSpPr>
        <p:spPr>
          <a:xfrm>
            <a:off x="1028700" y="808672"/>
            <a:ext cx="3644958" cy="0"/>
          </a:xfrm>
          <a:prstGeom prst="line">
            <a:avLst/>
          </a:prstGeom>
          <a:ln cap="flat" w="9525">
            <a:solidFill>
              <a:srgbClr val="6572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2354808" y="0"/>
            <a:ext cx="5952242" cy="1359243"/>
          </a:xfrm>
          <a:custGeom>
            <a:avLst/>
            <a:gdLst/>
            <a:ahLst/>
            <a:cxnLst/>
            <a:rect r="r" b="b" t="t" l="l"/>
            <a:pathLst>
              <a:path h="1359243" w="5952242">
                <a:moveTo>
                  <a:pt x="0" y="0"/>
                </a:moveTo>
                <a:lnTo>
                  <a:pt x="5952242" y="0"/>
                </a:lnTo>
                <a:lnTo>
                  <a:pt x="5952242" y="1359243"/>
                </a:lnTo>
                <a:lnTo>
                  <a:pt x="0" y="1359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673658" y="1646726"/>
            <a:ext cx="7115292" cy="8321979"/>
          </a:xfrm>
          <a:custGeom>
            <a:avLst/>
            <a:gdLst/>
            <a:ahLst/>
            <a:cxnLst/>
            <a:rect r="r" b="b" t="t" l="l"/>
            <a:pathLst>
              <a:path h="8321979" w="7115292">
                <a:moveTo>
                  <a:pt x="0" y="0"/>
                </a:moveTo>
                <a:lnTo>
                  <a:pt x="7115292" y="0"/>
                </a:lnTo>
                <a:lnTo>
                  <a:pt x="7115292" y="8321979"/>
                </a:lnTo>
                <a:lnTo>
                  <a:pt x="0" y="83219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03832" y="114563"/>
            <a:ext cx="3337356" cy="6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sz="3591">
                <a:solidFill>
                  <a:srgbClr val="65724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Proyecto: CultivIa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137527"/>
            <a:ext cx="1028700" cy="10562054"/>
            <a:chOff x="0" y="0"/>
            <a:chExt cx="270933" cy="27817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933" cy="2781776"/>
            </a:xfrm>
            <a:custGeom>
              <a:avLst/>
              <a:gdLst/>
              <a:ahLst/>
              <a:cxnLst/>
              <a:rect r="r" b="b" t="t" l="l"/>
              <a:pathLst>
                <a:path h="2781776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81776"/>
                  </a:lnTo>
                  <a:lnTo>
                    <a:pt x="0" y="2781776"/>
                  </a:lnTo>
                  <a:close/>
                </a:path>
              </a:pathLst>
            </a:custGeom>
            <a:solidFill>
              <a:srgbClr val="65724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70933" cy="282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226896" y="2431017"/>
            <a:ext cx="10597569" cy="7577608"/>
          </a:xfrm>
          <a:custGeom>
            <a:avLst/>
            <a:gdLst/>
            <a:ahLst/>
            <a:cxnLst/>
            <a:rect r="r" b="b" t="t" l="l"/>
            <a:pathLst>
              <a:path h="7577608" w="10597569">
                <a:moveTo>
                  <a:pt x="0" y="0"/>
                </a:moveTo>
                <a:lnTo>
                  <a:pt x="10597569" y="0"/>
                </a:lnTo>
                <a:lnTo>
                  <a:pt x="10597569" y="7577608"/>
                </a:lnTo>
                <a:lnTo>
                  <a:pt x="0" y="7577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206271" y="895350"/>
            <a:ext cx="8638818" cy="1230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2"/>
              </a:lnSpc>
            </a:pPr>
            <a:r>
              <a:rPr lang="en-US" b="true" sz="7201">
                <a:solidFill>
                  <a:srgbClr val="222222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MODELO DE DATOS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03832" y="114563"/>
            <a:ext cx="3337356" cy="6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sz="3591">
                <a:solidFill>
                  <a:srgbClr val="65724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Proyecto: CultivIa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2354808" y="0"/>
            <a:ext cx="5952242" cy="1359243"/>
          </a:xfrm>
          <a:custGeom>
            <a:avLst/>
            <a:gdLst/>
            <a:ahLst/>
            <a:cxnLst/>
            <a:rect r="r" b="b" t="t" l="l"/>
            <a:pathLst>
              <a:path h="1359243" w="5952242">
                <a:moveTo>
                  <a:pt x="0" y="0"/>
                </a:moveTo>
                <a:lnTo>
                  <a:pt x="5952242" y="0"/>
                </a:lnTo>
                <a:lnTo>
                  <a:pt x="5952242" y="1359243"/>
                </a:lnTo>
                <a:lnTo>
                  <a:pt x="0" y="13592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666" r="0" b="-21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137527"/>
            <a:ext cx="1028700" cy="10562054"/>
            <a:chOff x="0" y="0"/>
            <a:chExt cx="270933" cy="27817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933" cy="2781776"/>
            </a:xfrm>
            <a:custGeom>
              <a:avLst/>
              <a:gdLst/>
              <a:ahLst/>
              <a:cxnLst/>
              <a:rect r="r" b="b" t="t" l="l"/>
              <a:pathLst>
                <a:path h="2781776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81776"/>
                  </a:lnTo>
                  <a:lnTo>
                    <a:pt x="0" y="2781776"/>
                  </a:lnTo>
                  <a:close/>
                </a:path>
              </a:pathLst>
            </a:custGeom>
            <a:solidFill>
              <a:srgbClr val="65724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70933" cy="282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-116389"/>
            <a:ext cx="6213127" cy="10519777"/>
            <a:chOff x="0" y="0"/>
            <a:chExt cx="8284170" cy="14026369"/>
          </a:xfrm>
        </p:grpSpPr>
        <p:pic>
          <p:nvPicPr>
            <p:cNvPr name="Picture 7" id="7"/>
            <p:cNvPicPr>
              <a:picLocks noChangeAspect="true"/>
            </p:cNvPicPr>
            <p:nvPr/>
          </p:nvPicPr>
          <p:blipFill>
            <a:blip r:embed="rId3"/>
            <a:srcRect l="5703" t="0" r="5703" b="0"/>
            <a:stretch>
              <a:fillRect/>
            </a:stretch>
          </p:blipFill>
          <p:spPr>
            <a:xfrm flipH="false" flipV="false">
              <a:off x="0" y="0"/>
              <a:ext cx="8284170" cy="14026369"/>
            </a:xfrm>
            <a:prstGeom prst="rect">
              <a:avLst/>
            </a:prstGeom>
          </p:spPr>
        </p:pic>
      </p:grpSp>
      <p:sp>
        <p:nvSpPr>
          <p:cNvPr name="AutoShape 8" id="8"/>
          <p:cNvSpPr/>
          <p:nvPr/>
        </p:nvSpPr>
        <p:spPr>
          <a:xfrm>
            <a:off x="9054697" y="3637604"/>
            <a:ext cx="6492240" cy="0"/>
          </a:xfrm>
          <a:prstGeom prst="line">
            <a:avLst/>
          </a:prstGeom>
          <a:ln cap="rnd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-5400000">
            <a:off x="-1515591" y="4639412"/>
            <a:ext cx="4040832" cy="556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FFFFFF"/>
                </a:solidFill>
                <a:latin typeface="Dream Avenue"/>
                <a:ea typeface="Dream Avenue"/>
                <a:cs typeface="Dream Avenue"/>
                <a:sym typeface="Dream Avenue"/>
              </a:rPr>
              <a:t>08 / 15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36244" y="1407326"/>
            <a:ext cx="6729147" cy="2225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1"/>
              </a:lnSpc>
            </a:pPr>
            <a:r>
              <a:rPr lang="en-US" b="true" sz="6393">
                <a:solidFill>
                  <a:srgbClr val="222222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TECNOLOGÍAS UTILIZADAS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88074" y="3585217"/>
            <a:ext cx="7333469" cy="6653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</a:p>
          <a:p>
            <a:pPr algn="l" marL="481909" indent="-240954" lvl="1">
              <a:lnSpc>
                <a:spcPts val="3124"/>
              </a:lnSpc>
              <a:buFont typeface="Arial"/>
              <a:buChar char="•"/>
            </a:pPr>
            <a:r>
              <a:rPr lang="en-US" sz="2232" i="true">
                <a:solidFill>
                  <a:srgbClr val="222222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React Native</a:t>
            </a:r>
          </a:p>
          <a:p>
            <a:pPr algn="l" marL="481909" indent="-240954" lvl="1">
              <a:lnSpc>
                <a:spcPts val="3124"/>
              </a:lnSpc>
              <a:buFont typeface="Arial"/>
              <a:buChar char="•"/>
            </a:pPr>
            <a:r>
              <a:rPr lang="en-US" sz="2232" i="true">
                <a:solidFill>
                  <a:srgbClr val="222222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Figma</a:t>
            </a:r>
          </a:p>
          <a:p>
            <a:pPr algn="l" marL="481909" indent="-240954" lvl="1">
              <a:lnSpc>
                <a:spcPts val="3124"/>
              </a:lnSpc>
              <a:buFont typeface="Arial"/>
              <a:buChar char="•"/>
            </a:pPr>
            <a:r>
              <a:rPr lang="en-US" sz="2232" i="true">
                <a:solidFill>
                  <a:srgbClr val="222222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Golang (Go)</a:t>
            </a:r>
          </a:p>
          <a:p>
            <a:pPr algn="l" marL="481909" indent="-240954" lvl="1">
              <a:lnSpc>
                <a:spcPts val="3124"/>
              </a:lnSpc>
              <a:buFont typeface="Arial"/>
              <a:buChar char="•"/>
            </a:pPr>
            <a:r>
              <a:rPr lang="en-US" sz="2232" i="true">
                <a:solidFill>
                  <a:srgbClr val="222222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PostgreSQL</a:t>
            </a:r>
          </a:p>
          <a:p>
            <a:pPr algn="l" marL="481909" indent="-240954" lvl="1">
              <a:lnSpc>
                <a:spcPts val="3124"/>
              </a:lnSpc>
              <a:buFont typeface="Arial"/>
              <a:buChar char="•"/>
            </a:pPr>
            <a:r>
              <a:rPr lang="en-US" sz="2232" i="true">
                <a:solidFill>
                  <a:srgbClr val="222222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Pl@ntNet API (Identificación de plantas)</a:t>
            </a:r>
          </a:p>
          <a:p>
            <a:pPr algn="l" marL="481909" indent="-240954" lvl="1">
              <a:lnSpc>
                <a:spcPts val="3124"/>
              </a:lnSpc>
              <a:buFont typeface="Arial"/>
              <a:buChar char="•"/>
            </a:pPr>
            <a:r>
              <a:rPr lang="en-US" sz="2232" i="true">
                <a:solidFill>
                  <a:srgbClr val="222222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Plantoc Modelo propio</a:t>
            </a:r>
          </a:p>
          <a:p>
            <a:pPr algn="l" marL="481909" indent="-240954" lvl="1">
              <a:lnSpc>
                <a:spcPts val="3124"/>
              </a:lnSpc>
              <a:buFont typeface="Arial"/>
              <a:buChar char="•"/>
            </a:pPr>
            <a:r>
              <a:rPr lang="en-US" sz="2232" i="true">
                <a:solidFill>
                  <a:srgbClr val="222222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LLM DeepSeek V3 (OpenRouter)</a:t>
            </a:r>
          </a:p>
          <a:p>
            <a:pPr algn="l" marL="481909" indent="-240954" lvl="1">
              <a:lnSpc>
                <a:spcPts val="3124"/>
              </a:lnSpc>
              <a:buFont typeface="Arial"/>
              <a:buChar char="•"/>
            </a:pPr>
            <a:r>
              <a:rPr lang="en-US" sz="2232" i="true">
                <a:solidFill>
                  <a:srgbClr val="222222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ESP32 (Microcontrolador IoT)</a:t>
            </a:r>
          </a:p>
          <a:p>
            <a:pPr algn="l" marL="481909" indent="-240954" lvl="1">
              <a:lnSpc>
                <a:spcPts val="3124"/>
              </a:lnSpc>
              <a:buFont typeface="Arial"/>
              <a:buChar char="•"/>
            </a:pPr>
            <a:r>
              <a:rPr lang="en-US" sz="2232" i="true">
                <a:solidFill>
                  <a:srgbClr val="222222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Sensores de humedad y temperatura (DHT11 / DHT22)</a:t>
            </a:r>
          </a:p>
          <a:p>
            <a:pPr algn="l" marL="481909" indent="-240954" lvl="1">
              <a:lnSpc>
                <a:spcPts val="3124"/>
              </a:lnSpc>
              <a:buFont typeface="Arial"/>
              <a:buChar char="•"/>
            </a:pPr>
            <a:r>
              <a:rPr lang="en-US" sz="2232" i="true">
                <a:solidFill>
                  <a:srgbClr val="222222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WiFi / MQTT (Comunicación IoT)</a:t>
            </a:r>
          </a:p>
          <a:p>
            <a:pPr algn="l" marL="481909" indent="-240954" lvl="1">
              <a:lnSpc>
                <a:spcPts val="3124"/>
              </a:lnSpc>
              <a:buFont typeface="Arial"/>
              <a:buChar char="•"/>
            </a:pPr>
            <a:r>
              <a:rPr lang="en-US" sz="2232" i="true">
                <a:solidFill>
                  <a:srgbClr val="222222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Docker</a:t>
            </a:r>
          </a:p>
          <a:p>
            <a:pPr algn="l" marL="481909" indent="-240954" lvl="1">
              <a:lnSpc>
                <a:spcPts val="3124"/>
              </a:lnSpc>
              <a:buFont typeface="Arial"/>
              <a:buChar char="•"/>
            </a:pPr>
            <a:r>
              <a:rPr lang="en-US" sz="2232" i="true">
                <a:solidFill>
                  <a:srgbClr val="222222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GitHub</a:t>
            </a:r>
          </a:p>
          <a:p>
            <a:pPr algn="l" marL="481909" indent="-240954" lvl="1">
              <a:lnSpc>
                <a:spcPts val="3124"/>
              </a:lnSpc>
              <a:buFont typeface="Arial"/>
              <a:buChar char="•"/>
            </a:pPr>
            <a:r>
              <a:rPr lang="en-US" sz="2232" i="true">
                <a:solidFill>
                  <a:srgbClr val="222222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Jira (Gestión ágil Scrum)</a:t>
            </a:r>
          </a:p>
          <a:p>
            <a:pPr algn="l" marL="481909" indent="-240954" lvl="1">
              <a:lnSpc>
                <a:spcPts val="3124"/>
              </a:lnSpc>
              <a:buFont typeface="Arial"/>
              <a:buChar char="•"/>
            </a:pPr>
            <a:r>
              <a:rPr lang="en-US" sz="2232" i="true">
                <a:solidFill>
                  <a:srgbClr val="222222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Scrum (Metodología de trabajo)</a:t>
            </a:r>
          </a:p>
          <a:p>
            <a:pPr algn="l">
              <a:lnSpc>
                <a:spcPts val="3124"/>
              </a:lnSpc>
            </a:pPr>
          </a:p>
          <a:p>
            <a:pPr algn="l">
              <a:lnSpc>
                <a:spcPts val="3124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203832" y="114563"/>
            <a:ext cx="3337356" cy="6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sz="3591">
                <a:solidFill>
                  <a:srgbClr val="65724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Proyecto: CultivIa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2354808" y="0"/>
            <a:ext cx="5952242" cy="1359243"/>
          </a:xfrm>
          <a:custGeom>
            <a:avLst/>
            <a:gdLst/>
            <a:ahLst/>
            <a:cxnLst/>
            <a:rect r="r" b="b" t="t" l="l"/>
            <a:pathLst>
              <a:path h="1359243" w="5952242">
                <a:moveTo>
                  <a:pt x="0" y="0"/>
                </a:moveTo>
                <a:lnTo>
                  <a:pt x="5952242" y="0"/>
                </a:lnTo>
                <a:lnTo>
                  <a:pt x="5952242" y="1359243"/>
                </a:lnTo>
                <a:lnTo>
                  <a:pt x="0" y="13592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137527"/>
            <a:ext cx="1028700" cy="10562054"/>
            <a:chOff x="0" y="0"/>
            <a:chExt cx="270933" cy="27817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933" cy="2781776"/>
            </a:xfrm>
            <a:custGeom>
              <a:avLst/>
              <a:gdLst/>
              <a:ahLst/>
              <a:cxnLst/>
              <a:rect r="r" b="b" t="t" l="l"/>
              <a:pathLst>
                <a:path h="2781776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81776"/>
                  </a:lnTo>
                  <a:lnTo>
                    <a:pt x="0" y="2781776"/>
                  </a:lnTo>
                  <a:close/>
                </a:path>
              </a:pathLst>
            </a:custGeom>
            <a:solidFill>
              <a:srgbClr val="65724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70933" cy="282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354808" y="0"/>
            <a:ext cx="5952242" cy="1359243"/>
          </a:xfrm>
          <a:custGeom>
            <a:avLst/>
            <a:gdLst/>
            <a:ahLst/>
            <a:cxnLst/>
            <a:rect r="r" b="b" t="t" l="l"/>
            <a:pathLst>
              <a:path h="1359243" w="5952242">
                <a:moveTo>
                  <a:pt x="0" y="0"/>
                </a:moveTo>
                <a:lnTo>
                  <a:pt x="5952242" y="0"/>
                </a:lnTo>
                <a:lnTo>
                  <a:pt x="5952242" y="1359243"/>
                </a:lnTo>
                <a:lnTo>
                  <a:pt x="0" y="1359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900763" y="1359243"/>
            <a:ext cx="9346508" cy="8154828"/>
          </a:xfrm>
          <a:custGeom>
            <a:avLst/>
            <a:gdLst/>
            <a:ahLst/>
            <a:cxnLst/>
            <a:rect r="r" b="b" t="t" l="l"/>
            <a:pathLst>
              <a:path h="8154828" w="9346508">
                <a:moveTo>
                  <a:pt x="0" y="0"/>
                </a:moveTo>
                <a:lnTo>
                  <a:pt x="9346508" y="0"/>
                </a:lnTo>
                <a:lnTo>
                  <a:pt x="9346508" y="8154828"/>
                </a:lnTo>
                <a:lnTo>
                  <a:pt x="0" y="8154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599535" y="4492548"/>
            <a:ext cx="11948966" cy="1697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45"/>
              </a:lnSpc>
            </a:pPr>
            <a:r>
              <a:rPr lang="en-US" b="true" sz="9961">
                <a:solidFill>
                  <a:srgbClr val="222222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PROTOTIPO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3832" y="114563"/>
            <a:ext cx="3337356" cy="6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sz="3591">
                <a:solidFill>
                  <a:srgbClr val="65724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Proyecto: CultivIa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137527"/>
            <a:ext cx="1028700" cy="10562054"/>
            <a:chOff x="0" y="0"/>
            <a:chExt cx="270933" cy="27817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933" cy="2781776"/>
            </a:xfrm>
            <a:custGeom>
              <a:avLst/>
              <a:gdLst/>
              <a:ahLst/>
              <a:cxnLst/>
              <a:rect r="r" b="b" t="t" l="l"/>
              <a:pathLst>
                <a:path h="2781776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81776"/>
                  </a:lnTo>
                  <a:lnTo>
                    <a:pt x="0" y="2781776"/>
                  </a:lnTo>
                  <a:close/>
                </a:path>
              </a:pathLst>
            </a:custGeom>
            <a:solidFill>
              <a:srgbClr val="65724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70933" cy="282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1028700" y="808672"/>
            <a:ext cx="3644958" cy="0"/>
          </a:xfrm>
          <a:prstGeom prst="line">
            <a:avLst/>
          </a:prstGeom>
          <a:ln cap="flat" w="9525">
            <a:solidFill>
              <a:srgbClr val="6572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2354808" y="0"/>
            <a:ext cx="5952242" cy="1359243"/>
          </a:xfrm>
          <a:custGeom>
            <a:avLst/>
            <a:gdLst/>
            <a:ahLst/>
            <a:cxnLst/>
            <a:rect r="r" b="b" t="t" l="l"/>
            <a:pathLst>
              <a:path h="1359243" w="5952242">
                <a:moveTo>
                  <a:pt x="0" y="0"/>
                </a:moveTo>
                <a:lnTo>
                  <a:pt x="5952242" y="0"/>
                </a:lnTo>
                <a:lnTo>
                  <a:pt x="5952242" y="1359243"/>
                </a:lnTo>
                <a:lnTo>
                  <a:pt x="0" y="1359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475745" y="3086100"/>
            <a:ext cx="3119767" cy="4114800"/>
          </a:xfrm>
          <a:custGeom>
            <a:avLst/>
            <a:gdLst/>
            <a:ahLst/>
            <a:cxnLst/>
            <a:rect r="r" b="b" t="t" l="l"/>
            <a:pathLst>
              <a:path h="4114800" w="3119767">
                <a:moveTo>
                  <a:pt x="0" y="0"/>
                </a:moveTo>
                <a:lnTo>
                  <a:pt x="3119767" y="0"/>
                </a:lnTo>
                <a:lnTo>
                  <a:pt x="31197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121344" y="4429125"/>
            <a:ext cx="5572340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0"/>
              </a:lnSpc>
            </a:pPr>
            <a:r>
              <a:rPr lang="en-US" b="true" sz="7500">
                <a:solidFill>
                  <a:srgbClr val="222222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PREGUNTAS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3832" y="114563"/>
            <a:ext cx="3337356" cy="6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sz="3591">
                <a:solidFill>
                  <a:srgbClr val="65724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Proyecto: CultivIa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DAGxga7H0co</dc:identifier>
  <dcterms:modified xsi:type="dcterms:W3CDTF">2011-08-01T06:04:30Z</dcterms:modified>
  <cp:revision>1</cp:revision>
  <dc:title>Presentacion Proyecto</dc:title>
</cp:coreProperties>
</file>